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6" r:id="rId2"/>
    <p:sldId id="257" r:id="rId3"/>
    <p:sldId id="258" r:id="rId4"/>
    <p:sldId id="294" r:id="rId5"/>
    <p:sldId id="259" r:id="rId6"/>
    <p:sldId id="281" r:id="rId7"/>
    <p:sldId id="282" r:id="rId8"/>
    <p:sldId id="283" r:id="rId9"/>
    <p:sldId id="284" r:id="rId10"/>
    <p:sldId id="260" r:id="rId11"/>
    <p:sldId id="265" r:id="rId12"/>
    <p:sldId id="266" r:id="rId13"/>
    <p:sldId id="267" r:id="rId14"/>
    <p:sldId id="268" r:id="rId15"/>
    <p:sldId id="285" r:id="rId16"/>
    <p:sldId id="269" r:id="rId17"/>
    <p:sldId id="286" r:id="rId18"/>
    <p:sldId id="261" r:id="rId19"/>
    <p:sldId id="270" r:id="rId20"/>
    <p:sldId id="288" r:id="rId21"/>
    <p:sldId id="289" r:id="rId22"/>
    <p:sldId id="287" r:id="rId23"/>
    <p:sldId id="290" r:id="rId24"/>
    <p:sldId id="271" r:id="rId25"/>
    <p:sldId id="272" r:id="rId26"/>
    <p:sldId id="273" r:id="rId27"/>
    <p:sldId id="295" r:id="rId28"/>
    <p:sldId id="296" r:id="rId29"/>
    <p:sldId id="297" r:id="rId30"/>
    <p:sldId id="298" r:id="rId31"/>
    <p:sldId id="274" r:id="rId32"/>
    <p:sldId id="291" r:id="rId33"/>
    <p:sldId id="275" r:id="rId34"/>
    <p:sldId id="276" r:id="rId35"/>
    <p:sldId id="277" r:id="rId36"/>
    <p:sldId id="278" r:id="rId37"/>
    <p:sldId id="279" r:id="rId38"/>
    <p:sldId id="280" r:id="rId39"/>
    <p:sldId id="292" r:id="rId40"/>
    <p:sldId id="293"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7" d="100"/>
          <a:sy n="67" d="100"/>
        </p:scale>
        <p:origin x="8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8/1/2025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9546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8/1/2025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2719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8/1/2025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7774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8/1/2025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3100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8/1/2025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13122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8/1/2025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84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818C68F-D26B-8F47-958C-23B49CF8A634}" type="datetimeFigureOut">
              <a:rPr lang="en-US" smtClean="0"/>
              <a:pPr/>
              <a:t>8/1/2025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96113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0DF5E60-9974-AC48-9591-99C2BB44B7CF}" type="datetimeFigureOut">
              <a:rPr lang="en-US" smtClean="0"/>
              <a:pPr/>
              <a:t>8/1/2025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2598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smtClean="0"/>
              <a:pPr/>
              <a:t>8/1/2025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2618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8/1/2025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7688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smtClean="0"/>
              <a:pPr/>
              <a:t>8/1/2025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2983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9B482E8-6E0E-1B4F-B1FD-C69DB9E858D9}" type="datetimeFigureOut">
              <a:rPr lang="en-US" smtClean="0"/>
              <a:pPr/>
              <a:t>8/1/2025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5870925"/>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github.com/burhanazam123/TestRepo.gi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Basic Understanding Of Version Control System</a:t>
            </a:r>
          </a:p>
        </p:txBody>
      </p:sp>
      <p:sp>
        <p:nvSpPr>
          <p:cNvPr id="3" name="Subtitle 2"/>
          <p:cNvSpPr>
            <a:spLocks noGrp="1"/>
          </p:cNvSpPr>
          <p:nvPr>
            <p:ph type="subTitle" idx="1"/>
          </p:nvPr>
        </p:nvSpPr>
        <p:spPr/>
        <p:txBody>
          <a:bodyPr/>
          <a:lstStyle/>
          <a:p>
            <a:r>
              <a:rPr lang="en-US" dirty="0"/>
              <a:t>Version Control System</a:t>
            </a:r>
          </a:p>
        </p:txBody>
      </p:sp>
    </p:spTree>
    <p:extLst>
      <p:ext uri="{BB962C8B-B14F-4D97-AF65-F5344CB8AC3E}">
        <p14:creationId xmlns:p14="http://schemas.microsoft.com/office/powerpoint/2010/main" val="171476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Version Control System</a:t>
            </a:r>
          </a:p>
        </p:txBody>
      </p:sp>
      <p:sp>
        <p:nvSpPr>
          <p:cNvPr id="3" name="Content Placeholder 2"/>
          <p:cNvSpPr>
            <a:spLocks noGrp="1"/>
          </p:cNvSpPr>
          <p:nvPr>
            <p:ph idx="1"/>
          </p:nvPr>
        </p:nvSpPr>
        <p:spPr/>
        <p:txBody>
          <a:bodyPr/>
          <a:lstStyle/>
          <a:p>
            <a:pPr>
              <a:buFont typeface="Wingdings" panose="05000000000000000000" pitchFamily="2" charset="2"/>
              <a:buChar char="q"/>
            </a:pPr>
            <a:endParaRPr lang="en-US" dirty="0"/>
          </a:p>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VCS stands for </a:t>
            </a:r>
            <a:r>
              <a:rPr lang="en-US" b="1" dirty="0">
                <a:latin typeface="Times New Roman" panose="02020603050405020304" pitchFamily="18" charset="0"/>
                <a:cs typeface="Times New Roman" panose="02020603050405020304" pitchFamily="18" charset="0"/>
              </a:rPr>
              <a:t>Version Control System</a:t>
            </a:r>
            <a:r>
              <a:rPr lang="en-US" dirty="0">
                <a:latin typeface="Times New Roman" panose="02020603050405020304" pitchFamily="18" charset="0"/>
                <a:cs typeface="Times New Roman" panose="02020603050405020304" pitchFamily="18" charset="0"/>
              </a:rPr>
              <a:t>. </a:t>
            </a:r>
          </a:p>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It is a tool that helps developers manage changes to source code over time. VCS keeps track of modifications, allowing users to revert to previous versions, collaborate efficiently, and track changes made by different contributors. </a:t>
            </a:r>
          </a:p>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Code is written as a series of functions or procedures that operate on data. Data is often passed around as arguments to these functions.</a:t>
            </a:r>
          </a:p>
        </p:txBody>
      </p:sp>
    </p:spTree>
    <p:extLst>
      <p:ext uri="{BB962C8B-B14F-4D97-AF65-F5344CB8AC3E}">
        <p14:creationId xmlns:p14="http://schemas.microsoft.com/office/powerpoint/2010/main" val="2388549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Versions Controls</a:t>
            </a:r>
          </a:p>
        </p:txBody>
      </p:sp>
      <p:sp>
        <p:nvSpPr>
          <p:cNvPr id="3" name="Content Placeholder 2"/>
          <p:cNvSpPr>
            <a:spLocks noGrp="1"/>
          </p:cNvSpPr>
          <p:nvPr>
            <p:ph idx="1"/>
          </p:nvPr>
        </p:nvSpPr>
        <p:spPr/>
        <p:txBody>
          <a:bodyPr/>
          <a:lstStyle/>
          <a:p>
            <a:pPr>
              <a:buFont typeface="Wingdings" panose="05000000000000000000" pitchFamily="2" charset="2"/>
              <a:buChar char="q"/>
            </a:pPr>
            <a:endParaRPr lang="en-US" b="1" dirty="0"/>
          </a:p>
          <a:p>
            <a:pPr>
              <a:buFont typeface="Wingdings" panose="05000000000000000000" pitchFamily="2" charset="2"/>
              <a:buChar char="q"/>
            </a:pPr>
            <a:r>
              <a:rPr lang="en-US" b="1" dirty="0"/>
              <a:t>Local VCS</a:t>
            </a:r>
            <a:r>
              <a:rPr lang="en-US" dirty="0"/>
              <a:t> </a:t>
            </a:r>
          </a:p>
          <a:p>
            <a:pPr marL="0" indent="0">
              <a:buNone/>
            </a:pPr>
            <a:r>
              <a:rPr lang="en-US" dirty="0"/>
              <a:t> - Stores versions on a local machine (e.g., simple file backups).</a:t>
            </a:r>
          </a:p>
          <a:p>
            <a:pPr>
              <a:buFont typeface="Wingdings" panose="05000000000000000000" pitchFamily="2" charset="2"/>
              <a:buChar char="q"/>
            </a:pPr>
            <a:r>
              <a:rPr lang="en-US" b="1" dirty="0"/>
              <a:t>Centralized VCS (CVCS)</a:t>
            </a:r>
            <a:r>
              <a:rPr lang="en-US" dirty="0"/>
              <a:t> </a:t>
            </a:r>
          </a:p>
          <a:p>
            <a:pPr marL="0" indent="0">
              <a:buNone/>
            </a:pPr>
            <a:r>
              <a:rPr lang="en-US" dirty="0"/>
              <a:t> - Uses a central server to store all versions (e.g., SVN, Perforce).</a:t>
            </a:r>
          </a:p>
          <a:p>
            <a:pPr>
              <a:buFont typeface="Wingdings" panose="05000000000000000000" pitchFamily="2" charset="2"/>
              <a:buChar char="q"/>
            </a:pPr>
            <a:r>
              <a:rPr lang="en-US" b="1" dirty="0"/>
              <a:t>Distributed VCS (DVCS)</a:t>
            </a:r>
            <a:r>
              <a:rPr lang="en-US" dirty="0"/>
              <a:t> </a:t>
            </a:r>
          </a:p>
          <a:p>
            <a:pPr marL="0" indent="0">
              <a:buNone/>
            </a:pPr>
            <a:r>
              <a:rPr lang="en-US" dirty="0"/>
              <a:t> - Each user has a full copy of the repository (e.g., </a:t>
            </a:r>
            <a:r>
              <a:rPr lang="en-US" dirty="0" err="1"/>
              <a:t>Git</a:t>
            </a:r>
            <a:r>
              <a:rPr lang="en-US" dirty="0"/>
              <a:t>, Mercurial).</a:t>
            </a:r>
          </a:p>
          <a:p>
            <a:pPr marL="0" indent="0">
              <a:buNone/>
            </a:pPr>
            <a:endParaRPr lang="en-US" dirty="0">
              <a:latin typeface="+mj-lt"/>
            </a:endParaRPr>
          </a:p>
        </p:txBody>
      </p:sp>
    </p:spTree>
    <p:extLst>
      <p:ext uri="{BB962C8B-B14F-4D97-AF65-F5344CB8AC3E}">
        <p14:creationId xmlns:p14="http://schemas.microsoft.com/office/powerpoint/2010/main" val="3706170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8B9D9-8FA7-5804-AA84-7E04CD560D9D}"/>
              </a:ext>
            </a:extLst>
          </p:cNvPr>
          <p:cNvSpPr>
            <a:spLocks noGrp="1"/>
          </p:cNvSpPr>
          <p:nvPr>
            <p:ph type="title"/>
          </p:nvPr>
        </p:nvSpPr>
        <p:spPr/>
        <p:txBody>
          <a:bodyPr/>
          <a:lstStyle/>
          <a:p>
            <a:r>
              <a:rPr lang="en-US" dirty="0"/>
              <a:t>Local Version Controls</a:t>
            </a:r>
          </a:p>
        </p:txBody>
      </p:sp>
      <p:sp>
        <p:nvSpPr>
          <p:cNvPr id="3" name="Content Placeholder 2">
            <a:extLst>
              <a:ext uri="{FF2B5EF4-FFF2-40B4-BE49-F238E27FC236}">
                <a16:creationId xmlns:a16="http://schemas.microsoft.com/office/drawing/2014/main" id="{D21AE221-1EF4-DC50-CF65-90518450395D}"/>
              </a:ext>
            </a:extLst>
          </p:cNvPr>
          <p:cNvSpPr>
            <a:spLocks noGrp="1"/>
          </p:cNvSpPr>
          <p:nvPr>
            <p:ph idx="1"/>
          </p:nvPr>
        </p:nvSpPr>
        <p:spPr/>
        <p:txBody>
          <a:bodyPr>
            <a:normAutofit/>
          </a:bodyPr>
          <a:lstStyle/>
          <a:p>
            <a:r>
              <a:rPr lang="en-US" sz="2800" dirty="0"/>
              <a:t>Local Version Controls refer to tools or systems used to manage changes to files and code on a single computer or local machine. They help developers keep track of modifications, revert to previous versions, and manage project history without needing internet access or a remote repository.</a:t>
            </a:r>
          </a:p>
        </p:txBody>
      </p:sp>
    </p:spTree>
    <p:extLst>
      <p:ext uri="{BB962C8B-B14F-4D97-AF65-F5344CB8AC3E}">
        <p14:creationId xmlns:p14="http://schemas.microsoft.com/office/powerpoint/2010/main" val="2368722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Version Controls</a:t>
            </a:r>
          </a:p>
        </p:txBody>
      </p:sp>
      <p:pic>
        <p:nvPicPr>
          <p:cNvPr id="7" name="Content Placeholder 6">
            <a:extLst>
              <a:ext uri="{FF2B5EF4-FFF2-40B4-BE49-F238E27FC236}">
                <a16:creationId xmlns:a16="http://schemas.microsoft.com/office/drawing/2014/main" id="{1701F6A0-C187-C6D0-51C0-DD94100FE422}"/>
              </a:ext>
            </a:extLst>
          </p:cNvPr>
          <p:cNvPicPr>
            <a:picLocks noGrp="1" noChangeAspect="1"/>
          </p:cNvPicPr>
          <p:nvPr>
            <p:ph idx="1"/>
          </p:nvPr>
        </p:nvPicPr>
        <p:blipFill>
          <a:blip r:embed="rId2"/>
          <a:stretch>
            <a:fillRect/>
          </a:stretch>
        </p:blipFill>
        <p:spPr>
          <a:xfrm>
            <a:off x="3348318" y="1846263"/>
            <a:ext cx="4921623" cy="4022725"/>
          </a:xfrm>
        </p:spPr>
      </p:pic>
    </p:spTree>
    <p:extLst>
      <p:ext uri="{BB962C8B-B14F-4D97-AF65-F5344CB8AC3E}">
        <p14:creationId xmlns:p14="http://schemas.microsoft.com/office/powerpoint/2010/main" val="4156327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CF41A-3B8A-3936-A1C5-F10D06E51B74}"/>
              </a:ext>
            </a:extLst>
          </p:cNvPr>
          <p:cNvSpPr>
            <a:spLocks noGrp="1"/>
          </p:cNvSpPr>
          <p:nvPr>
            <p:ph type="title"/>
          </p:nvPr>
        </p:nvSpPr>
        <p:spPr/>
        <p:txBody>
          <a:bodyPr/>
          <a:lstStyle/>
          <a:p>
            <a:r>
              <a:rPr lang="en-US" dirty="0"/>
              <a:t>Centralized VCS </a:t>
            </a:r>
          </a:p>
        </p:txBody>
      </p:sp>
      <p:sp>
        <p:nvSpPr>
          <p:cNvPr id="3" name="Content Placeholder 2">
            <a:extLst>
              <a:ext uri="{FF2B5EF4-FFF2-40B4-BE49-F238E27FC236}">
                <a16:creationId xmlns:a16="http://schemas.microsoft.com/office/drawing/2014/main" id="{AA81E841-4DD7-08E8-B70B-12F05807D2C1}"/>
              </a:ext>
            </a:extLst>
          </p:cNvPr>
          <p:cNvSpPr>
            <a:spLocks noGrp="1"/>
          </p:cNvSpPr>
          <p:nvPr>
            <p:ph idx="1"/>
          </p:nvPr>
        </p:nvSpPr>
        <p:spPr/>
        <p:txBody>
          <a:bodyPr/>
          <a:lstStyle/>
          <a:p>
            <a:r>
              <a:rPr lang="en-US" dirty="0"/>
              <a:t>Centralized Version Control Systems (CVCSs) were created to help developers collaborate by storing all versioned files on a single central server. Clients check out files from this server, making it easy to manage and track project changes. Popular CVCSs include CVS, Subversion, and Perforce. This system provides better control and visibility over project updates, allowing administrators to manage permissions and making it more efficient than local version control systems.</a:t>
            </a:r>
          </a:p>
        </p:txBody>
      </p:sp>
    </p:spTree>
    <p:extLst>
      <p:ext uri="{BB962C8B-B14F-4D97-AF65-F5344CB8AC3E}">
        <p14:creationId xmlns:p14="http://schemas.microsoft.com/office/powerpoint/2010/main" val="3067660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FFA1B-7A55-B920-3B02-A6ED1FDF6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90AD2-653D-16B6-CBD9-E8C5F365CF9D}"/>
              </a:ext>
            </a:extLst>
          </p:cNvPr>
          <p:cNvSpPr>
            <a:spLocks noGrp="1"/>
          </p:cNvSpPr>
          <p:nvPr>
            <p:ph type="title"/>
          </p:nvPr>
        </p:nvSpPr>
        <p:spPr/>
        <p:txBody>
          <a:bodyPr/>
          <a:lstStyle/>
          <a:p>
            <a:r>
              <a:rPr lang="en-US" dirty="0"/>
              <a:t>Centralized VCS </a:t>
            </a:r>
          </a:p>
        </p:txBody>
      </p:sp>
      <p:sp>
        <p:nvSpPr>
          <p:cNvPr id="3" name="Content Placeholder 2">
            <a:extLst>
              <a:ext uri="{FF2B5EF4-FFF2-40B4-BE49-F238E27FC236}">
                <a16:creationId xmlns:a16="http://schemas.microsoft.com/office/drawing/2014/main" id="{3D7EFF3E-E569-07E9-5BBC-C2A895264CF0}"/>
              </a:ext>
            </a:extLst>
          </p:cNvPr>
          <p:cNvSpPr>
            <a:spLocks noGrp="1"/>
          </p:cNvSpPr>
          <p:nvPr>
            <p:ph idx="1"/>
          </p:nvPr>
        </p:nvSpPr>
        <p:spPr/>
        <p:txBody>
          <a:bodyPr/>
          <a:lstStyle/>
          <a:p>
            <a:r>
              <a:rPr lang="en-US" dirty="0"/>
              <a:t>Imagine you and your friends are working on a group project, and all your files are stored on one computer in the library. If anyone needs to make changes, they must first get the file from that computer, update it, and then save it back. This is how Centralized Version Control Systems (CVCSs) work. They use a central server to store all project files, and team members check out files from there. Examples of CVCSs include CVS, Subversion, and Perforce. This setup makes it easier for everyone to see updates, track changes, and control access.</a:t>
            </a:r>
          </a:p>
        </p:txBody>
      </p:sp>
    </p:spTree>
    <p:extLst>
      <p:ext uri="{BB962C8B-B14F-4D97-AF65-F5344CB8AC3E}">
        <p14:creationId xmlns:p14="http://schemas.microsoft.com/office/powerpoint/2010/main" val="101936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2DBD0-554E-D310-673E-76A691441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8BBB4F-43CC-703F-EF20-C3352B013F7A}"/>
              </a:ext>
            </a:extLst>
          </p:cNvPr>
          <p:cNvSpPr>
            <a:spLocks noGrp="1"/>
          </p:cNvSpPr>
          <p:nvPr>
            <p:ph type="title"/>
          </p:nvPr>
        </p:nvSpPr>
        <p:spPr/>
        <p:txBody>
          <a:bodyPr/>
          <a:lstStyle/>
          <a:p>
            <a:r>
              <a:rPr lang="en-US" dirty="0"/>
              <a:t>Limitation of Centralized VCS </a:t>
            </a:r>
          </a:p>
        </p:txBody>
      </p:sp>
      <p:sp>
        <p:nvSpPr>
          <p:cNvPr id="3" name="Content Placeholder 2">
            <a:extLst>
              <a:ext uri="{FF2B5EF4-FFF2-40B4-BE49-F238E27FC236}">
                <a16:creationId xmlns:a16="http://schemas.microsoft.com/office/drawing/2014/main" id="{38E58D07-E04F-4725-566A-8EA94E9997A2}"/>
              </a:ext>
            </a:extLst>
          </p:cNvPr>
          <p:cNvSpPr>
            <a:spLocks noGrp="1"/>
          </p:cNvSpPr>
          <p:nvPr>
            <p:ph idx="1"/>
          </p:nvPr>
        </p:nvSpPr>
        <p:spPr/>
        <p:txBody>
          <a:bodyPr/>
          <a:lstStyle/>
          <a:p>
            <a:r>
              <a:rPr lang="en-US" dirty="0"/>
              <a:t>However, there’s a big problem—if the central computer (server) crashes, no one can access or save their work! If the hard drive gets damaged and there are no backups, all files and history could be lost. This is a serious risk because everything is stored in one place. That’s why newer systems, like Git, use Distributed Version Control Systems (DVCSs), where everyone has a copy of the full project on their own computer. This way, even if one system fails, the project is still safe.</a:t>
            </a:r>
          </a:p>
        </p:txBody>
      </p:sp>
    </p:spTree>
    <p:extLst>
      <p:ext uri="{BB962C8B-B14F-4D97-AF65-F5344CB8AC3E}">
        <p14:creationId xmlns:p14="http://schemas.microsoft.com/office/powerpoint/2010/main" val="1988583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26743-5B59-0006-4A7A-2801BDE17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3ED9-412A-F392-F1EE-4F950F23A776}"/>
              </a:ext>
            </a:extLst>
          </p:cNvPr>
          <p:cNvSpPr>
            <a:spLocks noGrp="1"/>
          </p:cNvSpPr>
          <p:nvPr>
            <p:ph type="title"/>
          </p:nvPr>
        </p:nvSpPr>
        <p:spPr/>
        <p:txBody>
          <a:bodyPr/>
          <a:lstStyle/>
          <a:p>
            <a:r>
              <a:rPr lang="en-US" dirty="0"/>
              <a:t>Centralized VCS </a:t>
            </a:r>
          </a:p>
        </p:txBody>
      </p:sp>
      <p:pic>
        <p:nvPicPr>
          <p:cNvPr id="5" name="Content Placeholder 4">
            <a:extLst>
              <a:ext uri="{FF2B5EF4-FFF2-40B4-BE49-F238E27FC236}">
                <a16:creationId xmlns:a16="http://schemas.microsoft.com/office/drawing/2014/main" id="{E28170E2-224E-4413-686A-21E0300E695D}"/>
              </a:ext>
            </a:extLst>
          </p:cNvPr>
          <p:cNvPicPr>
            <a:picLocks noGrp="1" noChangeAspect="1"/>
          </p:cNvPicPr>
          <p:nvPr>
            <p:ph idx="1"/>
          </p:nvPr>
        </p:nvPicPr>
        <p:blipFill>
          <a:blip r:embed="rId2"/>
          <a:stretch>
            <a:fillRect/>
          </a:stretch>
        </p:blipFill>
        <p:spPr>
          <a:xfrm>
            <a:off x="2868158" y="2547755"/>
            <a:ext cx="6516009" cy="2619741"/>
          </a:xfrm>
        </p:spPr>
      </p:pic>
    </p:spTree>
    <p:extLst>
      <p:ext uri="{BB962C8B-B14F-4D97-AF65-F5344CB8AC3E}">
        <p14:creationId xmlns:p14="http://schemas.microsoft.com/office/powerpoint/2010/main" val="1357103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Centralized Version Controls </a:t>
            </a:r>
          </a:p>
        </p:txBody>
      </p:sp>
      <p:pic>
        <p:nvPicPr>
          <p:cNvPr id="4" name="Content Placeholder 3"/>
          <p:cNvPicPr>
            <a:picLocks noGrp="1" noChangeAspect="1"/>
          </p:cNvPicPr>
          <p:nvPr>
            <p:ph idx="1"/>
          </p:nvPr>
        </p:nvPicPr>
        <p:blipFill>
          <a:blip r:embed="rId2"/>
          <a:stretch>
            <a:fillRect/>
          </a:stretch>
        </p:blipFill>
        <p:spPr>
          <a:xfrm>
            <a:off x="1782157" y="2242912"/>
            <a:ext cx="8688012" cy="3229426"/>
          </a:xfrm>
          <a:prstGeom prst="rect">
            <a:avLst/>
          </a:prstGeom>
        </p:spPr>
      </p:pic>
    </p:spTree>
    <p:extLst>
      <p:ext uri="{BB962C8B-B14F-4D97-AF65-F5344CB8AC3E}">
        <p14:creationId xmlns:p14="http://schemas.microsoft.com/office/powerpoint/2010/main" val="2920866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Centralized Version Controls </a:t>
            </a:r>
          </a:p>
        </p:txBody>
      </p:sp>
      <p:pic>
        <p:nvPicPr>
          <p:cNvPr id="5" name="Content Placeholder 4"/>
          <p:cNvPicPr>
            <a:picLocks noGrp="1" noChangeAspect="1"/>
          </p:cNvPicPr>
          <p:nvPr>
            <p:ph idx="1"/>
          </p:nvPr>
        </p:nvPicPr>
        <p:blipFill>
          <a:blip r:embed="rId2"/>
          <a:stretch>
            <a:fillRect/>
          </a:stretch>
        </p:blipFill>
        <p:spPr>
          <a:xfrm>
            <a:off x="1648788" y="2261965"/>
            <a:ext cx="8954750" cy="3191320"/>
          </a:xfrm>
          <a:prstGeom prst="rect">
            <a:avLst/>
          </a:prstGeom>
        </p:spPr>
      </p:pic>
    </p:spTree>
    <p:extLst>
      <p:ext uri="{BB962C8B-B14F-4D97-AF65-F5344CB8AC3E}">
        <p14:creationId xmlns:p14="http://schemas.microsoft.com/office/powerpoint/2010/main" val="2955954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Centralized Version Controls </a:t>
            </a:r>
          </a:p>
        </p:txBody>
      </p:sp>
      <p:pic>
        <p:nvPicPr>
          <p:cNvPr id="5" name="Content Placeholder 4"/>
          <p:cNvPicPr>
            <a:picLocks noGrp="1" noChangeAspect="1"/>
          </p:cNvPicPr>
          <p:nvPr>
            <p:ph idx="1"/>
          </p:nvPr>
        </p:nvPicPr>
        <p:blipFill>
          <a:blip r:embed="rId2"/>
          <a:stretch>
            <a:fillRect/>
          </a:stretch>
        </p:blipFill>
        <p:spPr>
          <a:xfrm>
            <a:off x="1644025" y="2204807"/>
            <a:ext cx="8964276" cy="3305636"/>
          </a:xfrm>
          <a:prstGeom prst="rect">
            <a:avLst/>
          </a:prstGeom>
        </p:spPr>
      </p:pic>
    </p:spTree>
    <p:extLst>
      <p:ext uri="{BB962C8B-B14F-4D97-AF65-F5344CB8AC3E}">
        <p14:creationId xmlns:p14="http://schemas.microsoft.com/office/powerpoint/2010/main" val="3157997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Centralized Version Controls </a:t>
            </a:r>
          </a:p>
        </p:txBody>
      </p:sp>
      <p:pic>
        <p:nvPicPr>
          <p:cNvPr id="4" name="Content Placeholder 3"/>
          <p:cNvPicPr>
            <a:picLocks noGrp="1" noChangeAspect="1"/>
          </p:cNvPicPr>
          <p:nvPr>
            <p:ph idx="1"/>
          </p:nvPr>
        </p:nvPicPr>
        <p:blipFill>
          <a:blip r:embed="rId2"/>
          <a:stretch>
            <a:fillRect/>
          </a:stretch>
        </p:blipFill>
        <p:spPr>
          <a:xfrm>
            <a:off x="1577340" y="2223860"/>
            <a:ext cx="9097645" cy="3267531"/>
          </a:xfrm>
          <a:prstGeom prst="rect">
            <a:avLst/>
          </a:prstGeom>
        </p:spPr>
      </p:pic>
    </p:spTree>
    <p:extLst>
      <p:ext uri="{BB962C8B-B14F-4D97-AF65-F5344CB8AC3E}">
        <p14:creationId xmlns:p14="http://schemas.microsoft.com/office/powerpoint/2010/main" val="3436273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Centralized Version Controls </a:t>
            </a:r>
          </a:p>
        </p:txBody>
      </p:sp>
      <p:pic>
        <p:nvPicPr>
          <p:cNvPr id="6" name="Content Placeholder 5"/>
          <p:cNvPicPr>
            <a:picLocks noGrp="1" noChangeAspect="1"/>
          </p:cNvPicPr>
          <p:nvPr>
            <p:ph idx="1"/>
          </p:nvPr>
        </p:nvPicPr>
        <p:blipFill>
          <a:blip r:embed="rId2"/>
          <a:stretch>
            <a:fillRect/>
          </a:stretch>
        </p:blipFill>
        <p:spPr>
          <a:xfrm>
            <a:off x="1615446" y="2266728"/>
            <a:ext cx="9021434" cy="3181794"/>
          </a:xfrm>
          <a:prstGeom prst="rect">
            <a:avLst/>
          </a:prstGeom>
        </p:spPr>
      </p:pic>
    </p:spTree>
    <p:extLst>
      <p:ext uri="{BB962C8B-B14F-4D97-AF65-F5344CB8AC3E}">
        <p14:creationId xmlns:p14="http://schemas.microsoft.com/office/powerpoint/2010/main" val="905148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9C73E-5532-5C70-72C1-FBC640FE3484}"/>
              </a:ext>
            </a:extLst>
          </p:cNvPr>
          <p:cNvSpPr>
            <a:spLocks noGrp="1"/>
          </p:cNvSpPr>
          <p:nvPr>
            <p:ph type="title"/>
          </p:nvPr>
        </p:nvSpPr>
        <p:spPr/>
        <p:txBody>
          <a:bodyPr/>
          <a:lstStyle/>
          <a:p>
            <a:r>
              <a:rPr lang="en-US" dirty="0"/>
              <a:t>Distributed Version Control Systems</a:t>
            </a:r>
          </a:p>
        </p:txBody>
      </p:sp>
      <p:sp>
        <p:nvSpPr>
          <p:cNvPr id="3" name="Content Placeholder 2">
            <a:extLst>
              <a:ext uri="{FF2B5EF4-FFF2-40B4-BE49-F238E27FC236}">
                <a16:creationId xmlns:a16="http://schemas.microsoft.com/office/drawing/2014/main" id="{12EC35E9-F8B8-4954-32B3-F8460ADFE33C}"/>
              </a:ext>
            </a:extLst>
          </p:cNvPr>
          <p:cNvSpPr>
            <a:spLocks noGrp="1"/>
          </p:cNvSpPr>
          <p:nvPr>
            <p:ph idx="1"/>
          </p:nvPr>
        </p:nvSpPr>
        <p:spPr/>
        <p:txBody>
          <a:bodyPr/>
          <a:lstStyle/>
          <a:p>
            <a:r>
              <a:rPr lang="en-US" dirty="0"/>
              <a:t>In Distributed Version Control Systems (DVCSs) like Git, Mercurial, and </a:t>
            </a:r>
            <a:r>
              <a:rPr lang="en-US" dirty="0" err="1"/>
              <a:t>Darcs</a:t>
            </a:r>
            <a:r>
              <a:rPr lang="en-US" dirty="0"/>
              <a:t>, instead of just downloading the latest version of files from a central server, every user gets a complete copy of the project, including its full history. This means each person has a full backup of the entire project on their own computer.</a:t>
            </a:r>
          </a:p>
        </p:txBody>
      </p:sp>
    </p:spTree>
    <p:extLst>
      <p:ext uri="{BB962C8B-B14F-4D97-AF65-F5344CB8AC3E}">
        <p14:creationId xmlns:p14="http://schemas.microsoft.com/office/powerpoint/2010/main" val="2947425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Version Control Systems</a:t>
            </a:r>
          </a:p>
        </p:txBody>
      </p:sp>
      <p:pic>
        <p:nvPicPr>
          <p:cNvPr id="4" name="Content Placeholder 3"/>
          <p:cNvPicPr>
            <a:picLocks noGrp="1" noChangeAspect="1"/>
          </p:cNvPicPr>
          <p:nvPr>
            <p:ph idx="1"/>
          </p:nvPr>
        </p:nvPicPr>
        <p:blipFill>
          <a:blip r:embed="rId2"/>
          <a:stretch>
            <a:fillRect/>
          </a:stretch>
        </p:blipFill>
        <p:spPr>
          <a:xfrm>
            <a:off x="3301606" y="1852333"/>
            <a:ext cx="5649113" cy="4010585"/>
          </a:xfrm>
          <a:prstGeom prst="rect">
            <a:avLst/>
          </a:prstGeom>
        </p:spPr>
      </p:pic>
    </p:spTree>
    <p:extLst>
      <p:ext uri="{BB962C8B-B14F-4D97-AF65-F5344CB8AC3E}">
        <p14:creationId xmlns:p14="http://schemas.microsoft.com/office/powerpoint/2010/main" val="590123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B8507-F9FC-A972-3F49-05448428A97F}"/>
              </a:ext>
            </a:extLst>
          </p:cNvPr>
          <p:cNvSpPr>
            <a:spLocks noGrp="1"/>
          </p:cNvSpPr>
          <p:nvPr>
            <p:ph type="title"/>
          </p:nvPr>
        </p:nvSpPr>
        <p:spPr/>
        <p:txBody>
          <a:bodyPr/>
          <a:lstStyle/>
          <a:p>
            <a:r>
              <a:rPr lang="en-US" dirty="0"/>
              <a:t>Distributed Version Control Systems</a:t>
            </a:r>
          </a:p>
        </p:txBody>
      </p:sp>
      <p:sp>
        <p:nvSpPr>
          <p:cNvPr id="3" name="Content Placeholder 2">
            <a:extLst>
              <a:ext uri="{FF2B5EF4-FFF2-40B4-BE49-F238E27FC236}">
                <a16:creationId xmlns:a16="http://schemas.microsoft.com/office/drawing/2014/main" id="{524A2BE0-20D4-DC77-8351-7B16BE63CA04}"/>
              </a:ext>
            </a:extLst>
          </p:cNvPr>
          <p:cNvSpPr>
            <a:spLocks noGrp="1"/>
          </p:cNvSpPr>
          <p:nvPr>
            <p:ph idx="1"/>
          </p:nvPr>
        </p:nvSpPr>
        <p:spPr/>
        <p:txBody>
          <a:bodyPr/>
          <a:lstStyle/>
          <a:p>
            <a:r>
              <a:rPr lang="en-US" dirty="0"/>
              <a:t>If the main server crashes or data is lost, the project is not gone. Any user with a copy can restore it by uploading their version back to the server. This makes DVCS much safer than Centralized Version Control Systems (CVCSs) because there is no single point of failure—the data is always available across multiple computers.</a:t>
            </a:r>
          </a:p>
        </p:txBody>
      </p:sp>
    </p:spTree>
    <p:extLst>
      <p:ext uri="{BB962C8B-B14F-4D97-AF65-F5344CB8AC3E}">
        <p14:creationId xmlns:p14="http://schemas.microsoft.com/office/powerpoint/2010/main" val="2214817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272949667"/>
              </p:ext>
            </p:extLst>
          </p:nvPr>
        </p:nvGraphicFramePr>
        <p:xfrm>
          <a:off x="1096963" y="1846263"/>
          <a:ext cx="10058400" cy="3845560"/>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4142578234"/>
                    </a:ext>
                  </a:extLst>
                </a:gridCol>
                <a:gridCol w="3352800">
                  <a:extLst>
                    <a:ext uri="{9D8B030D-6E8A-4147-A177-3AD203B41FA5}">
                      <a16:colId xmlns:a16="http://schemas.microsoft.com/office/drawing/2014/main" val="1164945747"/>
                    </a:ext>
                  </a:extLst>
                </a:gridCol>
                <a:gridCol w="3352800">
                  <a:extLst>
                    <a:ext uri="{9D8B030D-6E8A-4147-A177-3AD203B41FA5}">
                      <a16:colId xmlns:a16="http://schemas.microsoft.com/office/drawing/2014/main" val="766987779"/>
                    </a:ext>
                  </a:extLst>
                </a:gridCol>
              </a:tblGrid>
              <a:tr h="370840">
                <a:tc>
                  <a:txBody>
                    <a:bodyPr/>
                    <a:lstStyle/>
                    <a:p>
                      <a:r>
                        <a:rPr lang="en-US" b="1" dirty="0"/>
                        <a:t>Feature</a:t>
                      </a:r>
                    </a:p>
                  </a:txBody>
                  <a:tcPr anchor="ctr"/>
                </a:tc>
                <a:tc>
                  <a:txBody>
                    <a:bodyPr/>
                    <a:lstStyle/>
                    <a:p>
                      <a:r>
                        <a:rPr lang="en-US" b="1"/>
                        <a:t>Centralized VCS (CVCS)</a:t>
                      </a:r>
                      <a:endParaRPr lang="en-US"/>
                    </a:p>
                  </a:txBody>
                  <a:tcPr anchor="ctr"/>
                </a:tc>
                <a:tc>
                  <a:txBody>
                    <a:bodyPr/>
                    <a:lstStyle/>
                    <a:p>
                      <a:r>
                        <a:rPr lang="en-US" b="1"/>
                        <a:t>Decentralized/Distributed VCS (DVCS)</a:t>
                      </a:r>
                      <a:endParaRPr lang="en-US"/>
                    </a:p>
                  </a:txBody>
                  <a:tcPr anchor="ctr"/>
                </a:tc>
                <a:extLst>
                  <a:ext uri="{0D108BD9-81ED-4DB2-BD59-A6C34878D82A}">
                    <a16:rowId xmlns:a16="http://schemas.microsoft.com/office/drawing/2014/main" val="4139688887"/>
                  </a:ext>
                </a:extLst>
              </a:tr>
              <a:tr h="370840">
                <a:tc>
                  <a:txBody>
                    <a:bodyPr/>
                    <a:lstStyle/>
                    <a:p>
                      <a:r>
                        <a:rPr lang="en-US" b="1" dirty="0"/>
                        <a:t>Structure</a:t>
                      </a:r>
                    </a:p>
                  </a:txBody>
                  <a:tcPr anchor="ctr"/>
                </a:tc>
                <a:tc>
                  <a:txBody>
                    <a:bodyPr/>
                    <a:lstStyle/>
                    <a:p>
                      <a:r>
                        <a:rPr lang="en-US" dirty="0"/>
                        <a:t>Single central server stores all versions.</a:t>
                      </a:r>
                    </a:p>
                  </a:txBody>
                  <a:tcPr anchor="ctr"/>
                </a:tc>
                <a:tc>
                  <a:txBody>
                    <a:bodyPr/>
                    <a:lstStyle/>
                    <a:p>
                      <a:r>
                        <a:rPr lang="en-US" dirty="0"/>
                        <a:t>Each user has a full copy of the repository.</a:t>
                      </a:r>
                    </a:p>
                  </a:txBody>
                  <a:tcPr anchor="ctr"/>
                </a:tc>
                <a:extLst>
                  <a:ext uri="{0D108BD9-81ED-4DB2-BD59-A6C34878D82A}">
                    <a16:rowId xmlns:a16="http://schemas.microsoft.com/office/drawing/2014/main" val="2072717011"/>
                  </a:ext>
                </a:extLst>
              </a:tr>
              <a:tr h="370840">
                <a:tc>
                  <a:txBody>
                    <a:bodyPr/>
                    <a:lstStyle/>
                    <a:p>
                      <a:r>
                        <a:rPr lang="en-US" b="1" dirty="0"/>
                        <a:t>Examples</a:t>
                      </a:r>
                    </a:p>
                  </a:txBody>
                  <a:tcPr anchor="ctr"/>
                </a:tc>
                <a:tc>
                  <a:txBody>
                    <a:bodyPr/>
                    <a:lstStyle/>
                    <a:p>
                      <a:r>
                        <a:rPr lang="en-US" dirty="0"/>
                        <a:t>SVN, Perforce, CVS</a:t>
                      </a:r>
                    </a:p>
                  </a:txBody>
                  <a:tcPr anchor="ctr"/>
                </a:tc>
                <a:tc>
                  <a:txBody>
                    <a:bodyPr/>
                    <a:lstStyle/>
                    <a:p>
                      <a:r>
                        <a:rPr lang="en-US" dirty="0" err="1"/>
                        <a:t>Git</a:t>
                      </a:r>
                      <a:r>
                        <a:rPr lang="en-US" dirty="0"/>
                        <a:t>, Mercurial</a:t>
                      </a:r>
                    </a:p>
                  </a:txBody>
                  <a:tcPr anchor="ctr"/>
                </a:tc>
                <a:extLst>
                  <a:ext uri="{0D108BD9-81ED-4DB2-BD59-A6C34878D82A}">
                    <a16:rowId xmlns:a16="http://schemas.microsoft.com/office/drawing/2014/main" val="24050263"/>
                  </a:ext>
                </a:extLst>
              </a:tr>
              <a:tr h="370840">
                <a:tc>
                  <a:txBody>
                    <a:bodyPr/>
                    <a:lstStyle/>
                    <a:p>
                      <a:r>
                        <a:rPr lang="en-US" b="1" dirty="0"/>
                        <a:t>Internet Requirement</a:t>
                      </a:r>
                    </a:p>
                  </a:txBody>
                  <a:tcPr anchor="ctr"/>
                </a:tc>
                <a:tc>
                  <a:txBody>
                    <a:bodyPr/>
                    <a:lstStyle/>
                    <a:p>
                      <a:r>
                        <a:rPr lang="en-US" dirty="0"/>
                        <a:t>Requires constant connection to the server.</a:t>
                      </a:r>
                    </a:p>
                  </a:txBody>
                  <a:tcPr anchor="ctr"/>
                </a:tc>
                <a:tc>
                  <a:txBody>
                    <a:bodyPr/>
                    <a:lstStyle/>
                    <a:p>
                      <a:r>
                        <a:rPr lang="en-US" dirty="0"/>
                        <a:t>Works offline; syncs when needed.</a:t>
                      </a:r>
                    </a:p>
                  </a:txBody>
                  <a:tcPr anchor="ctr"/>
                </a:tc>
                <a:extLst>
                  <a:ext uri="{0D108BD9-81ED-4DB2-BD59-A6C34878D82A}">
                    <a16:rowId xmlns:a16="http://schemas.microsoft.com/office/drawing/2014/main" val="1662167696"/>
                  </a:ext>
                </a:extLst>
              </a:tr>
              <a:tr h="370840">
                <a:tc>
                  <a:txBody>
                    <a:bodyPr/>
                    <a:lstStyle/>
                    <a:p>
                      <a:r>
                        <a:rPr lang="en-US" b="1" dirty="0"/>
                        <a:t>Performance</a:t>
                      </a:r>
                    </a:p>
                  </a:txBody>
                  <a:tcPr anchor="ctr"/>
                </a:tc>
                <a:tc>
                  <a:txBody>
                    <a:bodyPr/>
                    <a:lstStyle/>
                    <a:p>
                      <a:r>
                        <a:rPr lang="en-US" dirty="0"/>
                        <a:t>Slower, as every operation depends on the server.</a:t>
                      </a:r>
                    </a:p>
                  </a:txBody>
                  <a:tcPr anchor="ctr"/>
                </a:tc>
                <a:tc>
                  <a:txBody>
                    <a:bodyPr/>
                    <a:lstStyle/>
                    <a:p>
                      <a:r>
                        <a:rPr lang="en-US" dirty="0"/>
                        <a:t>Faster, as changes are made locally.</a:t>
                      </a:r>
                    </a:p>
                  </a:txBody>
                  <a:tcPr anchor="ctr"/>
                </a:tc>
                <a:extLst>
                  <a:ext uri="{0D108BD9-81ED-4DB2-BD59-A6C34878D82A}">
                    <a16:rowId xmlns:a16="http://schemas.microsoft.com/office/drawing/2014/main" val="1478083720"/>
                  </a:ext>
                </a:extLst>
              </a:tr>
              <a:tr h="370840">
                <a:tc>
                  <a:txBody>
                    <a:bodyPr/>
                    <a:lstStyle/>
                    <a:p>
                      <a:r>
                        <a:rPr lang="en-US" b="1" dirty="0"/>
                        <a:t>Collaboration</a:t>
                      </a:r>
                    </a:p>
                  </a:txBody>
                  <a:tcPr anchor="ctr"/>
                </a:tc>
                <a:tc>
                  <a:txBody>
                    <a:bodyPr/>
                    <a:lstStyle/>
                    <a:p>
                      <a:r>
                        <a:rPr lang="en-US" dirty="0"/>
                        <a:t>Developers must push/pull from the central server.</a:t>
                      </a:r>
                    </a:p>
                  </a:txBody>
                  <a:tcPr anchor="ctr"/>
                </a:tc>
                <a:tc>
                  <a:txBody>
                    <a:bodyPr/>
                    <a:lstStyle/>
                    <a:p>
                      <a:r>
                        <a:rPr lang="en-US" dirty="0"/>
                        <a:t>Developers can share changes peer-to-peer or push to a remote repository.</a:t>
                      </a:r>
                    </a:p>
                  </a:txBody>
                  <a:tcPr anchor="ctr"/>
                </a:tc>
                <a:extLst>
                  <a:ext uri="{0D108BD9-81ED-4DB2-BD59-A6C34878D82A}">
                    <a16:rowId xmlns:a16="http://schemas.microsoft.com/office/drawing/2014/main" val="1402174913"/>
                  </a:ext>
                </a:extLst>
              </a:tr>
            </a:tbl>
          </a:graphicData>
        </a:graphic>
      </p:graphicFrame>
    </p:spTree>
    <p:extLst>
      <p:ext uri="{BB962C8B-B14F-4D97-AF65-F5344CB8AC3E}">
        <p14:creationId xmlns:p14="http://schemas.microsoft.com/office/powerpoint/2010/main" val="2721207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GitHub</a:t>
            </a:r>
          </a:p>
        </p:txBody>
      </p:sp>
      <p:pic>
        <p:nvPicPr>
          <p:cNvPr id="4" name="Content Placeholder 3"/>
          <p:cNvPicPr>
            <a:picLocks noGrp="1" noChangeAspect="1"/>
          </p:cNvPicPr>
          <p:nvPr>
            <p:ph idx="1"/>
          </p:nvPr>
        </p:nvPicPr>
        <p:blipFill>
          <a:blip r:embed="rId2"/>
          <a:stretch>
            <a:fillRect/>
          </a:stretch>
        </p:blipFill>
        <p:spPr>
          <a:xfrm>
            <a:off x="3787449" y="2438202"/>
            <a:ext cx="4677428" cy="2838846"/>
          </a:xfrm>
          <a:prstGeom prst="rect">
            <a:avLst/>
          </a:prstGeom>
        </p:spPr>
      </p:pic>
    </p:spTree>
    <p:extLst>
      <p:ext uri="{BB962C8B-B14F-4D97-AF65-F5344CB8AC3E}">
        <p14:creationId xmlns:p14="http://schemas.microsoft.com/office/powerpoint/2010/main" val="3632501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B1A3E-83CD-1889-E9BD-E1509E1C239A}"/>
              </a:ext>
            </a:extLst>
          </p:cNvPr>
          <p:cNvSpPr>
            <a:spLocks noGrp="1"/>
          </p:cNvSpPr>
          <p:nvPr>
            <p:ph type="title"/>
          </p:nvPr>
        </p:nvSpPr>
        <p:spPr/>
        <p:txBody>
          <a:bodyPr/>
          <a:lstStyle/>
          <a:p>
            <a:r>
              <a:rPr lang="en-US" dirty="0"/>
              <a:t>GitHub</a:t>
            </a:r>
          </a:p>
        </p:txBody>
      </p:sp>
      <p:sp>
        <p:nvSpPr>
          <p:cNvPr id="3" name="Content Placeholder 2">
            <a:extLst>
              <a:ext uri="{FF2B5EF4-FFF2-40B4-BE49-F238E27FC236}">
                <a16:creationId xmlns:a16="http://schemas.microsoft.com/office/drawing/2014/main" id="{A19BC96E-4E29-B287-9FFC-072EAF7E489E}"/>
              </a:ext>
            </a:extLst>
          </p:cNvPr>
          <p:cNvSpPr>
            <a:spLocks noGrp="1"/>
          </p:cNvSpPr>
          <p:nvPr>
            <p:ph idx="1"/>
          </p:nvPr>
        </p:nvSpPr>
        <p:spPr/>
        <p:txBody>
          <a:bodyPr/>
          <a:lstStyle/>
          <a:p>
            <a:r>
              <a:rPr lang="en-US" b="0" i="0" dirty="0">
                <a:solidFill>
                  <a:srgbClr val="262626"/>
                </a:solidFill>
                <a:effectLst/>
                <a:latin typeface="+mj-lt"/>
              </a:rPr>
              <a:t>GitHub is a cloud-based platform that provides developers with tools to store, manage, collaborate on, and version-control their code using Git, a distributed version control system. It serves as a central hub for software development projects, enabling individuals and teams to work together efficiently, track changes, and maintain a history of their codebase. GitHub also offers features like issue tracking, pull requests, code reviews, and integrations with other development tools, making it a comprehensive platform for open-source and private projects alike</a:t>
            </a:r>
            <a:endParaRPr lang="en-US" dirty="0">
              <a:latin typeface="+mj-lt"/>
            </a:endParaRPr>
          </a:p>
        </p:txBody>
      </p:sp>
    </p:spTree>
    <p:extLst>
      <p:ext uri="{BB962C8B-B14F-4D97-AF65-F5344CB8AC3E}">
        <p14:creationId xmlns:p14="http://schemas.microsoft.com/office/powerpoint/2010/main" val="3617583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EE3D2-7A7F-1E6E-71AC-14FA01245D7A}"/>
              </a:ext>
            </a:extLst>
          </p:cNvPr>
          <p:cNvSpPr>
            <a:spLocks noGrp="1"/>
          </p:cNvSpPr>
          <p:nvPr>
            <p:ph type="title"/>
          </p:nvPr>
        </p:nvSpPr>
        <p:spPr/>
        <p:txBody>
          <a:bodyPr/>
          <a:lstStyle/>
          <a:p>
            <a:r>
              <a:rPr lang="en-US" dirty="0"/>
              <a:t>GitHub is a Cloud-Based Platform</a:t>
            </a:r>
          </a:p>
        </p:txBody>
      </p:sp>
      <p:sp>
        <p:nvSpPr>
          <p:cNvPr id="3" name="Content Placeholder 2">
            <a:extLst>
              <a:ext uri="{FF2B5EF4-FFF2-40B4-BE49-F238E27FC236}">
                <a16:creationId xmlns:a16="http://schemas.microsoft.com/office/drawing/2014/main" id="{D9DFE48F-4A01-8FD4-873F-B5E50920B512}"/>
              </a:ext>
            </a:extLst>
          </p:cNvPr>
          <p:cNvSpPr>
            <a:spLocks noGrp="1"/>
          </p:cNvSpPr>
          <p:nvPr>
            <p:ph idx="1"/>
          </p:nvPr>
        </p:nvSpPr>
        <p:spPr/>
        <p:txBody>
          <a:bodyPr/>
          <a:lstStyle/>
          <a:p>
            <a:r>
              <a:rPr lang="en-US" b="0" i="0" dirty="0">
                <a:solidFill>
                  <a:srgbClr val="404040"/>
                </a:solidFill>
                <a:effectLst/>
                <a:latin typeface="Inter"/>
              </a:rPr>
              <a:t>GitHub is an online service that operates in the cloud, meaning it is accessible over the internet. Developers don’t need to set up their own servers or infrastructure to use GitHub. Instead, they can rely on GitHub’s servers to host their code and collaborate with others. This makes it easy to access projects from anywhere, at any time, using any device with an internet connection.</a:t>
            </a:r>
            <a:endParaRPr lang="en-US" dirty="0"/>
          </a:p>
        </p:txBody>
      </p:sp>
    </p:spTree>
    <p:extLst>
      <p:ext uri="{BB962C8B-B14F-4D97-AF65-F5344CB8AC3E}">
        <p14:creationId xmlns:p14="http://schemas.microsoft.com/office/powerpoint/2010/main" val="2162091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3549-F7E8-999B-EFD7-901A920291CC}"/>
              </a:ext>
            </a:extLst>
          </p:cNvPr>
          <p:cNvSpPr>
            <a:spLocks noGrp="1"/>
          </p:cNvSpPr>
          <p:nvPr>
            <p:ph type="title"/>
          </p:nvPr>
        </p:nvSpPr>
        <p:spPr/>
        <p:txBody>
          <a:bodyPr/>
          <a:lstStyle/>
          <a:p>
            <a:r>
              <a:rPr lang="en-US" dirty="0"/>
              <a:t>Repository</a:t>
            </a:r>
          </a:p>
        </p:txBody>
      </p:sp>
      <p:sp>
        <p:nvSpPr>
          <p:cNvPr id="3" name="Content Placeholder 2">
            <a:extLst>
              <a:ext uri="{FF2B5EF4-FFF2-40B4-BE49-F238E27FC236}">
                <a16:creationId xmlns:a16="http://schemas.microsoft.com/office/drawing/2014/main" id="{EADE0A30-FF48-D58A-326D-287791D11763}"/>
              </a:ext>
            </a:extLst>
          </p:cNvPr>
          <p:cNvSpPr>
            <a:spLocks noGrp="1"/>
          </p:cNvSpPr>
          <p:nvPr>
            <p:ph idx="1"/>
          </p:nvPr>
        </p:nvSpPr>
        <p:spPr/>
        <p:txBody>
          <a:bodyPr/>
          <a:lstStyle/>
          <a:p>
            <a:r>
              <a:rPr lang="en-US" i="0" dirty="0">
                <a:solidFill>
                  <a:srgbClr val="404040"/>
                </a:solidFill>
                <a:effectLst/>
                <a:latin typeface="+mj-lt"/>
              </a:rPr>
              <a:t>A repository, often referred to as a repo, is a centralized storage location where all the files, code, and the complete history of changes related to a project are stored. It is a core concept in version control systems like Git and platforms such as GitHub. Think of a repository as a digital folder or directory that houses everything related to a project source code, documentation, configuration files, and other assets. However, unlike a regular folder, a repository is equipped with advanced features that allow you to track every change made to the files over time. This includes details like who made the change, when it was made, and why it was made (through commit messages). Repositories also support branching, which enables developers to work on multiple versions of the project simultaneously, such as a stable main version and experimental feature versions. This makes repositories an essential tool for managing and organizing projects, especially in collaborative environments.</a:t>
            </a:r>
            <a:endParaRPr lang="en-US" dirty="0">
              <a:latin typeface="+mj-lt"/>
            </a:endParaRPr>
          </a:p>
        </p:txBody>
      </p:sp>
    </p:spTree>
    <p:extLst>
      <p:ext uri="{BB962C8B-B14F-4D97-AF65-F5344CB8AC3E}">
        <p14:creationId xmlns:p14="http://schemas.microsoft.com/office/powerpoint/2010/main" val="41202521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5285-9BCF-0F61-4FCC-1167A517B8C7}"/>
              </a:ext>
            </a:extLst>
          </p:cNvPr>
          <p:cNvSpPr>
            <a:spLocks noGrp="1"/>
          </p:cNvSpPr>
          <p:nvPr>
            <p:ph type="title"/>
          </p:nvPr>
        </p:nvSpPr>
        <p:spPr/>
        <p:txBody>
          <a:bodyPr/>
          <a:lstStyle/>
          <a:p>
            <a:r>
              <a:rPr lang="en-US" dirty="0"/>
              <a:t>Repository</a:t>
            </a:r>
          </a:p>
        </p:txBody>
      </p:sp>
      <p:sp>
        <p:nvSpPr>
          <p:cNvPr id="3" name="Content Placeholder 2">
            <a:extLst>
              <a:ext uri="{FF2B5EF4-FFF2-40B4-BE49-F238E27FC236}">
                <a16:creationId xmlns:a16="http://schemas.microsoft.com/office/drawing/2014/main" id="{3256C155-0637-1954-A506-B93576D68EC2}"/>
              </a:ext>
            </a:extLst>
          </p:cNvPr>
          <p:cNvSpPr>
            <a:spLocks noGrp="1"/>
          </p:cNvSpPr>
          <p:nvPr>
            <p:ph idx="1"/>
          </p:nvPr>
        </p:nvSpPr>
        <p:spPr/>
        <p:txBody>
          <a:bodyPr/>
          <a:lstStyle/>
          <a:p>
            <a:r>
              <a:rPr lang="en-US" i="0" dirty="0">
                <a:solidFill>
                  <a:srgbClr val="404040"/>
                </a:solidFill>
                <a:effectLst/>
                <a:latin typeface="Inter"/>
              </a:rPr>
              <a:t>In addition to storing files and tracking changes, repositories facilitate collaboration among developers. They serve as a shared workspace where team members can contribute to the same project, even if they are working from different locations. For example, a remote repository hosted on platforms like GitHub allows developers to push (upload) their changes and pull (download) updates made by others. This ensures that everyone is working with the latest version of the code. Repositories also include tools like pull requests and code reviews, which allow team members to propose changes, discuss improvements, and ensure quality before merging updates into the main codebase. Whether the repository is local (on your computer) or remote (on a server), it acts as the backbone of modern software development, providing structure, history, and collaboration capabilities that make it easier to build, maintain, and scale projects.</a:t>
            </a:r>
            <a:endParaRPr lang="en-US" dirty="0"/>
          </a:p>
        </p:txBody>
      </p:sp>
    </p:spTree>
    <p:extLst>
      <p:ext uri="{BB962C8B-B14F-4D97-AF65-F5344CB8AC3E}">
        <p14:creationId xmlns:p14="http://schemas.microsoft.com/office/powerpoint/2010/main" val="2237710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a repository on GitHub</a:t>
            </a:r>
          </a:p>
        </p:txBody>
      </p:sp>
      <p:pic>
        <p:nvPicPr>
          <p:cNvPr id="4" name="Content Placeholder 3"/>
          <p:cNvPicPr>
            <a:picLocks noGrp="1" noChangeAspect="1"/>
          </p:cNvPicPr>
          <p:nvPr>
            <p:ph idx="1"/>
          </p:nvPr>
        </p:nvPicPr>
        <p:blipFill>
          <a:blip r:embed="rId2"/>
          <a:stretch>
            <a:fillRect/>
          </a:stretch>
        </p:blipFill>
        <p:spPr>
          <a:xfrm>
            <a:off x="3445565" y="2366755"/>
            <a:ext cx="4969565" cy="2981741"/>
          </a:xfrm>
          <a:prstGeom prst="rect">
            <a:avLst/>
          </a:prstGeom>
        </p:spPr>
      </p:pic>
    </p:spTree>
    <p:extLst>
      <p:ext uri="{BB962C8B-B14F-4D97-AF65-F5344CB8AC3E}">
        <p14:creationId xmlns:p14="http://schemas.microsoft.com/office/powerpoint/2010/main" val="830407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Provide details of repository on your account</a:t>
            </a:r>
          </a:p>
        </p:txBody>
      </p:sp>
      <p:pic>
        <p:nvPicPr>
          <p:cNvPr id="4" name="Content Placeholder 3"/>
          <p:cNvPicPr>
            <a:picLocks noGrp="1" noChangeAspect="1"/>
          </p:cNvPicPr>
          <p:nvPr>
            <p:ph idx="1"/>
          </p:nvPr>
        </p:nvPicPr>
        <p:blipFill>
          <a:blip r:embed="rId2"/>
          <a:stretch>
            <a:fillRect/>
          </a:stretch>
        </p:blipFill>
        <p:spPr>
          <a:xfrm>
            <a:off x="4035133" y="2133360"/>
            <a:ext cx="4182059" cy="3448531"/>
          </a:xfrm>
          <a:prstGeom prst="rect">
            <a:avLst/>
          </a:prstGeom>
        </p:spPr>
      </p:pic>
    </p:spTree>
    <p:extLst>
      <p:ext uri="{BB962C8B-B14F-4D97-AF65-F5344CB8AC3E}">
        <p14:creationId xmlns:p14="http://schemas.microsoft.com/office/powerpoint/2010/main" val="30934954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url</a:t>
            </a:r>
            <a:r>
              <a:rPr lang="en-US" dirty="0"/>
              <a:t> of repository on your account</a:t>
            </a:r>
          </a:p>
        </p:txBody>
      </p:sp>
      <p:pic>
        <p:nvPicPr>
          <p:cNvPr id="4" name="Content Placeholder 3"/>
          <p:cNvPicPr>
            <a:picLocks noGrp="1" noChangeAspect="1"/>
          </p:cNvPicPr>
          <p:nvPr>
            <p:ph idx="1"/>
          </p:nvPr>
        </p:nvPicPr>
        <p:blipFill>
          <a:blip r:embed="rId2"/>
          <a:stretch>
            <a:fillRect/>
          </a:stretch>
        </p:blipFill>
        <p:spPr>
          <a:xfrm>
            <a:off x="1624972" y="2161939"/>
            <a:ext cx="9002381" cy="3391373"/>
          </a:xfrm>
          <a:prstGeom prst="rect">
            <a:avLst/>
          </a:prstGeom>
        </p:spPr>
      </p:pic>
    </p:spTree>
    <p:extLst>
      <p:ext uri="{BB962C8B-B14F-4D97-AF65-F5344CB8AC3E}">
        <p14:creationId xmlns:p14="http://schemas.microsoft.com/office/powerpoint/2010/main" val="1728789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3C33A-1F2B-AB10-688E-186082814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44A467-FD53-1872-7E96-750C9A61A1AF}"/>
              </a:ext>
            </a:extLst>
          </p:cNvPr>
          <p:cNvSpPr>
            <a:spLocks noGrp="1"/>
          </p:cNvSpPr>
          <p:nvPr>
            <p:ph type="title"/>
          </p:nvPr>
        </p:nvSpPr>
        <p:spPr/>
        <p:txBody>
          <a:bodyPr/>
          <a:lstStyle/>
          <a:p>
            <a:r>
              <a:rPr lang="en-US" dirty="0"/>
              <a:t>Creating a new file in GitHub Repo </a:t>
            </a:r>
          </a:p>
        </p:txBody>
      </p:sp>
      <p:pic>
        <p:nvPicPr>
          <p:cNvPr id="7" name="Content Placeholder 6">
            <a:extLst>
              <a:ext uri="{FF2B5EF4-FFF2-40B4-BE49-F238E27FC236}">
                <a16:creationId xmlns:a16="http://schemas.microsoft.com/office/drawing/2014/main" id="{C04B48B6-5D1D-12E3-0857-A933EA31E272}"/>
              </a:ext>
            </a:extLst>
          </p:cNvPr>
          <p:cNvPicPr>
            <a:picLocks noGrp="1" noChangeAspect="1"/>
          </p:cNvPicPr>
          <p:nvPr>
            <p:ph idx="1"/>
          </p:nvPr>
        </p:nvPicPr>
        <p:blipFill>
          <a:blip r:embed="rId2"/>
          <a:stretch>
            <a:fillRect/>
          </a:stretch>
        </p:blipFill>
        <p:spPr>
          <a:xfrm>
            <a:off x="2324436" y="1846263"/>
            <a:ext cx="7603453" cy="4022725"/>
          </a:xfrm>
        </p:spPr>
      </p:pic>
    </p:spTree>
    <p:extLst>
      <p:ext uri="{BB962C8B-B14F-4D97-AF65-F5344CB8AC3E}">
        <p14:creationId xmlns:p14="http://schemas.microsoft.com/office/powerpoint/2010/main" val="234638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8CD58-256B-34A5-12CE-7BD0290CD0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53267-F4C3-4487-66E4-24FC59DC21E7}"/>
              </a:ext>
            </a:extLst>
          </p:cNvPr>
          <p:cNvSpPr>
            <a:spLocks noGrp="1"/>
          </p:cNvSpPr>
          <p:nvPr>
            <p:ph type="title"/>
          </p:nvPr>
        </p:nvSpPr>
        <p:spPr/>
        <p:txBody>
          <a:bodyPr/>
          <a:lstStyle/>
          <a:p>
            <a:r>
              <a:rPr lang="en-US" dirty="0"/>
              <a:t>Creating a new file in GitHub Repo </a:t>
            </a:r>
          </a:p>
        </p:txBody>
      </p:sp>
      <p:sp>
        <p:nvSpPr>
          <p:cNvPr id="4" name="Content Placeholder 3">
            <a:extLst>
              <a:ext uri="{FF2B5EF4-FFF2-40B4-BE49-F238E27FC236}">
                <a16:creationId xmlns:a16="http://schemas.microsoft.com/office/drawing/2014/main" id="{DBC56E8C-A6F2-17A6-4E6A-E59A14D6BC45}"/>
              </a:ext>
            </a:extLst>
          </p:cNvPr>
          <p:cNvSpPr>
            <a:spLocks noGrp="1"/>
          </p:cNvSpPr>
          <p:nvPr>
            <p:ph idx="1"/>
          </p:nvPr>
        </p:nvSpPr>
        <p:spPr/>
        <p:txBody>
          <a:bodyPr>
            <a:normAutofit/>
          </a:bodyPr>
          <a:lstStyle/>
          <a:p>
            <a:pPr>
              <a:buFont typeface="Wingdings" panose="05000000000000000000" pitchFamily="2" charset="2"/>
              <a:buChar char="q"/>
            </a:pPr>
            <a:r>
              <a:rPr lang="en-US" dirty="0"/>
              <a:t>Open your repository.</a:t>
            </a:r>
          </a:p>
          <a:p>
            <a:pPr>
              <a:buFont typeface="Wingdings" panose="05000000000000000000" pitchFamily="2" charset="2"/>
              <a:buChar char="q"/>
            </a:pPr>
            <a:r>
              <a:rPr lang="en-US" dirty="0"/>
              <a:t>Click the "Add file" button near the top-right.</a:t>
            </a:r>
          </a:p>
          <a:p>
            <a:pPr>
              <a:buFont typeface="Wingdings" panose="05000000000000000000" pitchFamily="2" charset="2"/>
              <a:buChar char="q"/>
            </a:pPr>
            <a:r>
              <a:rPr lang="en-US" dirty="0"/>
              <a:t>Select "Create new file".</a:t>
            </a:r>
          </a:p>
          <a:p>
            <a:pPr>
              <a:buFont typeface="Wingdings" panose="05000000000000000000" pitchFamily="2" charset="2"/>
              <a:buChar char="q"/>
            </a:pPr>
            <a:r>
              <a:rPr lang="en-US" dirty="0"/>
              <a:t>Enter the file name, including the folder path if needed (e.g., notes/Week1_Intro.md).</a:t>
            </a:r>
          </a:p>
          <a:p>
            <a:pPr>
              <a:buFont typeface="Wingdings" panose="05000000000000000000" pitchFamily="2" charset="2"/>
              <a:buChar char="q"/>
            </a:pPr>
            <a:r>
              <a:rPr lang="en-US" dirty="0"/>
              <a:t>Add your content in the editor.</a:t>
            </a:r>
          </a:p>
          <a:p>
            <a:pPr>
              <a:buFont typeface="Wingdings" panose="05000000000000000000" pitchFamily="2" charset="2"/>
              <a:buChar char="q"/>
            </a:pPr>
            <a:r>
              <a:rPr lang="en-US" dirty="0"/>
              <a:t>Scroll down, write a commit message (e.g., "Added Week 1 lecture notes").</a:t>
            </a:r>
          </a:p>
          <a:p>
            <a:pPr>
              <a:buFont typeface="Wingdings" panose="05000000000000000000" pitchFamily="2" charset="2"/>
              <a:buChar char="q"/>
            </a:pPr>
            <a:r>
              <a:rPr lang="en-US" dirty="0"/>
              <a:t>Choose to commit directly to the main branch or create a new branch.</a:t>
            </a:r>
          </a:p>
          <a:p>
            <a:pPr>
              <a:buFont typeface="Wingdings" panose="05000000000000000000" pitchFamily="2" charset="2"/>
              <a:buChar char="q"/>
            </a:pPr>
            <a:r>
              <a:rPr lang="en-US" dirty="0"/>
              <a:t>Click "Commit new file".</a:t>
            </a:r>
          </a:p>
        </p:txBody>
      </p:sp>
    </p:spTree>
    <p:extLst>
      <p:ext uri="{BB962C8B-B14F-4D97-AF65-F5344CB8AC3E}">
        <p14:creationId xmlns:p14="http://schemas.microsoft.com/office/powerpoint/2010/main" val="3000062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BCF6A-9EF5-25FF-7061-424349A75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B5942-0141-28BB-74AF-F2E5A0E33161}"/>
              </a:ext>
            </a:extLst>
          </p:cNvPr>
          <p:cNvSpPr>
            <a:spLocks noGrp="1"/>
          </p:cNvSpPr>
          <p:nvPr>
            <p:ph type="title"/>
          </p:nvPr>
        </p:nvSpPr>
        <p:spPr/>
        <p:txBody>
          <a:bodyPr/>
          <a:lstStyle/>
          <a:p>
            <a:r>
              <a:rPr lang="en-US" dirty="0"/>
              <a:t>Uploading a new file in GitHub Repo </a:t>
            </a:r>
          </a:p>
        </p:txBody>
      </p:sp>
      <p:pic>
        <p:nvPicPr>
          <p:cNvPr id="5" name="Content Placeholder 4">
            <a:extLst>
              <a:ext uri="{FF2B5EF4-FFF2-40B4-BE49-F238E27FC236}">
                <a16:creationId xmlns:a16="http://schemas.microsoft.com/office/drawing/2014/main" id="{6111D1E4-18DE-0ED0-0DDF-DCAC449B356D}"/>
              </a:ext>
            </a:extLst>
          </p:cNvPr>
          <p:cNvPicPr>
            <a:picLocks noGrp="1" noChangeAspect="1"/>
          </p:cNvPicPr>
          <p:nvPr>
            <p:ph idx="1"/>
          </p:nvPr>
        </p:nvPicPr>
        <p:blipFill>
          <a:blip r:embed="rId2"/>
          <a:stretch>
            <a:fillRect/>
          </a:stretch>
        </p:blipFill>
        <p:spPr>
          <a:xfrm>
            <a:off x="2055548" y="1846263"/>
            <a:ext cx="8141229" cy="4022725"/>
          </a:xfrm>
        </p:spPr>
      </p:pic>
    </p:spTree>
    <p:extLst>
      <p:ext uri="{BB962C8B-B14F-4D97-AF65-F5344CB8AC3E}">
        <p14:creationId xmlns:p14="http://schemas.microsoft.com/office/powerpoint/2010/main" val="27477058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E5A30-7776-871B-46DE-490AE2B1C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28F14-9C6C-790F-6057-55649CDE87C1}"/>
              </a:ext>
            </a:extLst>
          </p:cNvPr>
          <p:cNvSpPr>
            <a:spLocks noGrp="1"/>
          </p:cNvSpPr>
          <p:nvPr>
            <p:ph type="title"/>
          </p:nvPr>
        </p:nvSpPr>
        <p:spPr/>
        <p:txBody>
          <a:bodyPr/>
          <a:lstStyle/>
          <a:p>
            <a:r>
              <a:rPr lang="en-US" dirty="0"/>
              <a:t>Uploading a new file in GitHub Repo </a:t>
            </a:r>
          </a:p>
        </p:txBody>
      </p:sp>
      <p:sp>
        <p:nvSpPr>
          <p:cNvPr id="4" name="Content Placeholder 3">
            <a:extLst>
              <a:ext uri="{FF2B5EF4-FFF2-40B4-BE49-F238E27FC236}">
                <a16:creationId xmlns:a16="http://schemas.microsoft.com/office/drawing/2014/main" id="{90931E41-2E6F-C28E-B4A7-89778E72582A}"/>
              </a:ext>
            </a:extLst>
          </p:cNvPr>
          <p:cNvSpPr>
            <a:spLocks noGrp="1"/>
          </p:cNvSpPr>
          <p:nvPr>
            <p:ph idx="1"/>
          </p:nvPr>
        </p:nvSpPr>
        <p:spPr/>
        <p:txBody>
          <a:bodyPr/>
          <a:lstStyle/>
          <a:p>
            <a:pPr>
              <a:buFont typeface="Wingdings" panose="05000000000000000000" pitchFamily="2" charset="2"/>
              <a:buChar char="q"/>
            </a:pPr>
            <a:r>
              <a:rPr lang="en-US" dirty="0"/>
              <a:t>Using GitHub Web Interface (Easiest Way)</a:t>
            </a:r>
          </a:p>
          <a:p>
            <a:pPr>
              <a:buFont typeface="Wingdings" panose="05000000000000000000" pitchFamily="2" charset="2"/>
              <a:buChar char="q"/>
            </a:pPr>
            <a:r>
              <a:rPr lang="en-US" dirty="0"/>
              <a:t>Go to your GitHub repository in your browser.</a:t>
            </a:r>
          </a:p>
          <a:p>
            <a:pPr>
              <a:buFont typeface="Wingdings" panose="05000000000000000000" pitchFamily="2" charset="2"/>
              <a:buChar char="q"/>
            </a:pPr>
            <a:r>
              <a:rPr lang="en-US" dirty="0"/>
              <a:t>Click the "Add file" dropdown (top right).</a:t>
            </a:r>
          </a:p>
          <a:p>
            <a:pPr>
              <a:buFont typeface="Wingdings" panose="05000000000000000000" pitchFamily="2" charset="2"/>
              <a:buChar char="q"/>
            </a:pPr>
            <a:r>
              <a:rPr lang="en-US" dirty="0"/>
              <a:t>Choose "Upload files".</a:t>
            </a:r>
          </a:p>
          <a:p>
            <a:pPr>
              <a:buFont typeface="Wingdings" panose="05000000000000000000" pitchFamily="2" charset="2"/>
              <a:buChar char="q"/>
            </a:pPr>
            <a:r>
              <a:rPr lang="en-US" dirty="0"/>
              <a:t>Click "Choose your files" or drag-and-drop the file from your computer.</a:t>
            </a:r>
          </a:p>
          <a:p>
            <a:pPr>
              <a:buFont typeface="Wingdings" panose="05000000000000000000" pitchFamily="2" charset="2"/>
              <a:buChar char="q"/>
            </a:pPr>
            <a:r>
              <a:rPr lang="en-US" dirty="0"/>
              <a:t>Scroll down and write a commit message (e.g., "Uploaded Lecture 1 slides").</a:t>
            </a:r>
          </a:p>
          <a:p>
            <a:pPr>
              <a:buFont typeface="Wingdings" panose="05000000000000000000" pitchFamily="2" charset="2"/>
              <a:buChar char="q"/>
            </a:pPr>
            <a:r>
              <a:rPr lang="en-US" dirty="0"/>
              <a:t>Click "Commit changes".</a:t>
            </a:r>
          </a:p>
          <a:p>
            <a:endParaRPr lang="en-US" dirty="0"/>
          </a:p>
        </p:txBody>
      </p:sp>
    </p:spTree>
    <p:extLst>
      <p:ext uri="{BB962C8B-B14F-4D97-AF65-F5344CB8AC3E}">
        <p14:creationId xmlns:p14="http://schemas.microsoft.com/office/powerpoint/2010/main" val="42929043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 Clone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dirty="0">
                <a:latin typeface="+mj-lt"/>
              </a:rPr>
              <a:t>git clone is a fundamental Git command that allows you to create a local copy of a remote repository. </a:t>
            </a:r>
          </a:p>
          <a:p>
            <a:pPr>
              <a:buFont typeface="Wingdings" panose="05000000000000000000" pitchFamily="2" charset="2"/>
              <a:buChar char="q"/>
            </a:pPr>
            <a:r>
              <a:rPr lang="en-US" dirty="0">
                <a:latin typeface="+mj-lt"/>
              </a:rPr>
              <a:t>It downloads all the files, branches, and commit history, setting up a local environment where you can work on the project. </a:t>
            </a:r>
          </a:p>
          <a:p>
            <a:pPr marL="0" indent="0">
              <a:buNone/>
            </a:pPr>
            <a:endParaRPr lang="en-US" dirty="0">
              <a:latin typeface="+mj-lt"/>
            </a:endParaRPr>
          </a:p>
          <a:p>
            <a:pPr marL="0" indent="0" algn="ctr">
              <a:buNone/>
            </a:pPr>
            <a:r>
              <a:rPr lang="en-US" b="1" dirty="0">
                <a:latin typeface="+mj-lt"/>
              </a:rPr>
              <a:t>git clone &lt;repository-</a:t>
            </a:r>
            <a:r>
              <a:rPr lang="en-US" b="1" dirty="0" err="1">
                <a:latin typeface="+mj-lt"/>
              </a:rPr>
              <a:t>url</a:t>
            </a:r>
            <a:r>
              <a:rPr lang="en-US" b="1" dirty="0">
                <a:latin typeface="+mj-lt"/>
              </a:rPr>
              <a:t>&gt;</a:t>
            </a:r>
          </a:p>
          <a:p>
            <a:pPr marL="0" indent="0">
              <a:buNone/>
            </a:pPr>
            <a:r>
              <a:rPr lang="en-US" dirty="0">
                <a:latin typeface="+mj-lt"/>
              </a:rPr>
              <a:t>&lt;repository-</a:t>
            </a:r>
            <a:r>
              <a:rPr lang="en-US" dirty="0" err="1">
                <a:latin typeface="+mj-lt"/>
              </a:rPr>
              <a:t>url</a:t>
            </a:r>
            <a:r>
              <a:rPr lang="en-US" dirty="0">
                <a:latin typeface="+mj-lt"/>
              </a:rPr>
              <a:t>&gt;: The URL of the remote repository you want to clone. This can be an HTTPS, SSH, or Git protocol link.</a:t>
            </a:r>
          </a:p>
          <a:p>
            <a:pPr>
              <a:buFont typeface="Wingdings" panose="05000000000000000000" pitchFamily="2" charset="2"/>
              <a:buChar char="q"/>
            </a:pPr>
            <a:endParaRPr lang="en-US" dirty="0">
              <a:latin typeface="+mj-lt"/>
            </a:endParaRPr>
          </a:p>
        </p:txBody>
      </p:sp>
    </p:spTree>
    <p:extLst>
      <p:ext uri="{BB962C8B-B14F-4D97-AF65-F5344CB8AC3E}">
        <p14:creationId xmlns:p14="http://schemas.microsoft.com/office/powerpoint/2010/main" val="2531557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836C3-B425-C37D-1037-7DF6BD5D226B}"/>
              </a:ext>
            </a:extLst>
          </p:cNvPr>
          <p:cNvSpPr>
            <a:spLocks noGrp="1"/>
          </p:cNvSpPr>
          <p:nvPr>
            <p:ph type="title"/>
          </p:nvPr>
        </p:nvSpPr>
        <p:spPr/>
        <p:txBody>
          <a:bodyPr/>
          <a:lstStyle/>
          <a:p>
            <a:r>
              <a:rPr lang="en-US" dirty="0"/>
              <a:t>Git add</a:t>
            </a:r>
          </a:p>
        </p:txBody>
      </p:sp>
      <p:sp>
        <p:nvSpPr>
          <p:cNvPr id="3" name="Content Placeholder 2">
            <a:extLst>
              <a:ext uri="{FF2B5EF4-FFF2-40B4-BE49-F238E27FC236}">
                <a16:creationId xmlns:a16="http://schemas.microsoft.com/office/drawing/2014/main" id="{7635269A-DB7A-1AC6-CC32-09737B8523F3}"/>
              </a:ext>
            </a:extLst>
          </p:cNvPr>
          <p:cNvSpPr>
            <a:spLocks noGrp="1"/>
          </p:cNvSpPr>
          <p:nvPr>
            <p:ph idx="1"/>
          </p:nvPr>
        </p:nvSpPr>
        <p:spPr/>
        <p:txBody>
          <a:bodyPr/>
          <a:lstStyle/>
          <a:p>
            <a:r>
              <a:rPr lang="en-US" dirty="0"/>
              <a:t>git add is a crucial command in Git that stages changes in your working directory for the next commit. It allows you to selectively choose which changes to include, helping you create organized and meaningful commits. By using git add, you prepare your changes for the staging area, making it easier to review and commit them to the repository's history.</a:t>
            </a:r>
          </a:p>
          <a:p>
            <a:pPr algn="ctr"/>
            <a:r>
              <a:rPr lang="en-US" b="1" dirty="0"/>
              <a:t>git add &lt;filename.txt&gt;</a:t>
            </a:r>
          </a:p>
          <a:p>
            <a:pPr algn="ctr"/>
            <a:r>
              <a:rPr lang="en-US" b="1" dirty="0"/>
              <a:t>git add .</a:t>
            </a:r>
          </a:p>
        </p:txBody>
      </p:sp>
    </p:spTree>
    <p:extLst>
      <p:ext uri="{BB962C8B-B14F-4D97-AF65-F5344CB8AC3E}">
        <p14:creationId xmlns:p14="http://schemas.microsoft.com/office/powerpoint/2010/main" val="296354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 commit</a:t>
            </a:r>
          </a:p>
        </p:txBody>
      </p:sp>
      <p:sp>
        <p:nvSpPr>
          <p:cNvPr id="3" name="Content Placeholder 2"/>
          <p:cNvSpPr>
            <a:spLocks noGrp="1"/>
          </p:cNvSpPr>
          <p:nvPr>
            <p:ph idx="1"/>
          </p:nvPr>
        </p:nvSpPr>
        <p:spPr/>
        <p:txBody>
          <a:bodyPr/>
          <a:lstStyle/>
          <a:p>
            <a:r>
              <a:rPr lang="en-US" dirty="0"/>
              <a:t>git commit is a command in Git, the version control system, that saves the changes you've staged (using git add) to the repository's history. It creates a permanent snapshot of your project at that point in time, along with a message describing what changes were made and why. Each commit acts as a checkpoint that you can return to later if needed.</a:t>
            </a:r>
          </a:p>
          <a:p>
            <a:endParaRPr lang="en-US" dirty="0"/>
          </a:p>
          <a:p>
            <a:pPr algn="ctr"/>
            <a:r>
              <a:rPr lang="en-US" b="1" dirty="0" err="1"/>
              <a:t>Git</a:t>
            </a:r>
            <a:r>
              <a:rPr lang="en-US" b="1" dirty="0"/>
              <a:t> Command</a:t>
            </a:r>
          </a:p>
          <a:p>
            <a:pPr algn="ctr"/>
            <a:r>
              <a:rPr lang="en-US" b="1" dirty="0" err="1"/>
              <a:t>git</a:t>
            </a:r>
            <a:r>
              <a:rPr lang="en-US" b="1" dirty="0"/>
              <a:t> commit -m "Your commit message here"</a:t>
            </a:r>
          </a:p>
          <a:p>
            <a:endParaRPr lang="en-US" dirty="0"/>
          </a:p>
        </p:txBody>
      </p:sp>
    </p:spTree>
    <p:extLst>
      <p:ext uri="{BB962C8B-B14F-4D97-AF65-F5344CB8AC3E}">
        <p14:creationId xmlns:p14="http://schemas.microsoft.com/office/powerpoint/2010/main" val="12189992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git</a:t>
            </a:r>
            <a:r>
              <a:rPr lang="en-US" dirty="0"/>
              <a:t> push</a:t>
            </a:r>
          </a:p>
        </p:txBody>
      </p:sp>
      <p:sp>
        <p:nvSpPr>
          <p:cNvPr id="3" name="Content Placeholder 2"/>
          <p:cNvSpPr>
            <a:spLocks noGrp="1"/>
          </p:cNvSpPr>
          <p:nvPr>
            <p:ph idx="1"/>
          </p:nvPr>
        </p:nvSpPr>
        <p:spPr/>
        <p:txBody>
          <a:bodyPr/>
          <a:lstStyle/>
          <a:p>
            <a:r>
              <a:rPr lang="en-US" dirty="0" err="1"/>
              <a:t>git</a:t>
            </a:r>
            <a:r>
              <a:rPr lang="en-US" dirty="0"/>
              <a:t> push is used to upload local commits to a remote repository (e.g., GitHub, </a:t>
            </a:r>
            <a:r>
              <a:rPr lang="en-US" dirty="0" err="1"/>
              <a:t>GitLab</a:t>
            </a:r>
            <a:r>
              <a:rPr lang="en-US" dirty="0"/>
              <a:t>, </a:t>
            </a:r>
            <a:r>
              <a:rPr lang="en-US" dirty="0" err="1"/>
              <a:t>Bitbucket</a:t>
            </a:r>
            <a:r>
              <a:rPr lang="en-US" dirty="0"/>
              <a:t>). It updates the remote branch with the latest changes from your local repository.</a:t>
            </a:r>
          </a:p>
          <a:p>
            <a:endParaRPr lang="en-US" dirty="0"/>
          </a:p>
          <a:p>
            <a:pPr algn="ctr"/>
            <a:r>
              <a:rPr lang="en-US" b="1" dirty="0" err="1"/>
              <a:t>Git</a:t>
            </a:r>
            <a:r>
              <a:rPr lang="en-US" b="1" dirty="0"/>
              <a:t> Command</a:t>
            </a:r>
          </a:p>
          <a:p>
            <a:pPr algn="ctr"/>
            <a:r>
              <a:rPr lang="en-US" b="1" dirty="0"/>
              <a:t>git push origin main</a:t>
            </a:r>
          </a:p>
          <a:p>
            <a:pPr algn="ctr"/>
            <a:endParaRPr lang="en-US" b="1" dirty="0"/>
          </a:p>
        </p:txBody>
      </p:sp>
    </p:spTree>
    <p:extLst>
      <p:ext uri="{BB962C8B-B14F-4D97-AF65-F5344CB8AC3E}">
        <p14:creationId xmlns:p14="http://schemas.microsoft.com/office/powerpoint/2010/main" val="36268451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Git</a:t>
            </a:r>
            <a:r>
              <a:rPr lang="en-US" dirty="0"/>
              <a:t> </a:t>
            </a:r>
            <a:r>
              <a:rPr lang="en-US" dirty="0" err="1"/>
              <a:t>WorkFlow</a:t>
            </a:r>
            <a:endParaRPr lang="en-US" dirty="0"/>
          </a:p>
        </p:txBody>
      </p:sp>
      <p:sp>
        <p:nvSpPr>
          <p:cNvPr id="3" name="Content Placeholder 2"/>
          <p:cNvSpPr>
            <a:spLocks noGrp="1"/>
          </p:cNvSpPr>
          <p:nvPr>
            <p:ph idx="1"/>
          </p:nvPr>
        </p:nvSpPr>
        <p:spPr/>
        <p:txBody>
          <a:bodyPr/>
          <a:lstStyle/>
          <a:p>
            <a:r>
              <a:rPr lang="en-US" dirty="0" err="1"/>
              <a:t>git</a:t>
            </a:r>
            <a:r>
              <a:rPr lang="en-US" dirty="0"/>
              <a:t> clone 					# makes a clone </a:t>
            </a:r>
          </a:p>
          <a:p>
            <a:r>
              <a:rPr lang="en-US" dirty="0" err="1"/>
              <a:t>git</a:t>
            </a:r>
            <a:r>
              <a:rPr lang="en-US" dirty="0"/>
              <a:t> add .        					# Stage changes  </a:t>
            </a:r>
          </a:p>
          <a:p>
            <a:r>
              <a:rPr lang="en-US" dirty="0" err="1"/>
              <a:t>git</a:t>
            </a:r>
            <a:r>
              <a:rPr lang="en-US" dirty="0"/>
              <a:t> commit -m "Updated feature"  			# Commit changes  </a:t>
            </a:r>
          </a:p>
          <a:p>
            <a:r>
              <a:rPr lang="en-US" dirty="0"/>
              <a:t>git push origin &lt;main&gt;  				# Push to remote repo</a:t>
            </a:r>
          </a:p>
        </p:txBody>
      </p:sp>
    </p:spTree>
    <p:extLst>
      <p:ext uri="{BB962C8B-B14F-4D97-AF65-F5344CB8AC3E}">
        <p14:creationId xmlns:p14="http://schemas.microsoft.com/office/powerpoint/2010/main" val="3256876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Branching</a:t>
            </a:r>
          </a:p>
        </p:txBody>
      </p:sp>
      <p:sp>
        <p:nvSpPr>
          <p:cNvPr id="3" name="Content Placeholder 2"/>
          <p:cNvSpPr>
            <a:spLocks noGrp="1"/>
          </p:cNvSpPr>
          <p:nvPr>
            <p:ph idx="1"/>
          </p:nvPr>
        </p:nvSpPr>
        <p:spPr/>
        <p:txBody>
          <a:bodyPr/>
          <a:lstStyle/>
          <a:p>
            <a:r>
              <a:rPr lang="en-US" dirty="0"/>
              <a:t>In </a:t>
            </a:r>
            <a:r>
              <a:rPr lang="en-US" dirty="0" err="1"/>
              <a:t>Git</a:t>
            </a:r>
            <a:r>
              <a:rPr lang="en-US" dirty="0"/>
              <a:t>, "branching" refers to the process of creating a separate, parallel line of development within a repository, allowing developers to work on different features or bug fixes without affecting the main codebase, essentially creating a "copy" of the project at a specific point in time to work on independently before merging changes back into the main line later on. </a:t>
            </a:r>
          </a:p>
        </p:txBody>
      </p:sp>
    </p:spTree>
    <p:extLst>
      <p:ext uri="{BB962C8B-B14F-4D97-AF65-F5344CB8AC3E}">
        <p14:creationId xmlns:p14="http://schemas.microsoft.com/office/powerpoint/2010/main" val="41502354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Branching</a:t>
            </a:r>
          </a:p>
        </p:txBody>
      </p:sp>
      <p:pic>
        <p:nvPicPr>
          <p:cNvPr id="4" name="Content Placeholder 3"/>
          <p:cNvPicPr>
            <a:picLocks noGrp="1" noChangeAspect="1"/>
          </p:cNvPicPr>
          <p:nvPr>
            <p:ph idx="1"/>
          </p:nvPr>
        </p:nvPicPr>
        <p:blipFill>
          <a:blip r:embed="rId2"/>
          <a:stretch>
            <a:fillRect/>
          </a:stretch>
        </p:blipFill>
        <p:spPr>
          <a:xfrm>
            <a:off x="3028051" y="2159419"/>
            <a:ext cx="6196858" cy="2831225"/>
          </a:xfrm>
          <a:prstGeom prst="rect">
            <a:avLst/>
          </a:prstGeom>
        </p:spPr>
      </p:pic>
    </p:spTree>
    <p:extLst>
      <p:ext uri="{BB962C8B-B14F-4D97-AF65-F5344CB8AC3E}">
        <p14:creationId xmlns:p14="http://schemas.microsoft.com/office/powerpoint/2010/main" val="14622342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Branching and Merging</a:t>
            </a:r>
          </a:p>
        </p:txBody>
      </p:sp>
      <p:sp>
        <p:nvSpPr>
          <p:cNvPr id="3" name="Content Placeholder 2"/>
          <p:cNvSpPr>
            <a:spLocks noGrp="1"/>
          </p:cNvSpPr>
          <p:nvPr>
            <p:ph idx="1"/>
          </p:nvPr>
        </p:nvSpPr>
        <p:spPr/>
        <p:txBody>
          <a:bodyPr/>
          <a:lstStyle/>
          <a:p>
            <a:r>
              <a:rPr lang="en-US" dirty="0"/>
              <a:t>Merging in Git means combining changes from one branch into another.</a:t>
            </a:r>
          </a:p>
          <a:p>
            <a:r>
              <a:rPr lang="en-US" dirty="0"/>
              <a:t>For example, if you have a feature branch where you made some updates and want to bring those changes into the main branch, you use a merge.</a:t>
            </a:r>
          </a:p>
          <a:p>
            <a:r>
              <a:rPr lang="en-US" dirty="0"/>
              <a:t>For Merging You will Use the Pull Request</a:t>
            </a:r>
          </a:p>
          <a:p>
            <a:endParaRPr lang="en-US" dirty="0"/>
          </a:p>
        </p:txBody>
      </p:sp>
    </p:spTree>
    <p:extLst>
      <p:ext uri="{BB962C8B-B14F-4D97-AF65-F5344CB8AC3E}">
        <p14:creationId xmlns:p14="http://schemas.microsoft.com/office/powerpoint/2010/main" val="1213329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2B43C-D603-76C0-59CD-7CC13B9D54F3}"/>
              </a:ext>
            </a:extLst>
          </p:cNvPr>
          <p:cNvSpPr>
            <a:spLocks noGrp="1"/>
          </p:cNvSpPr>
          <p:nvPr>
            <p:ph type="title"/>
          </p:nvPr>
        </p:nvSpPr>
        <p:spPr/>
        <p:txBody>
          <a:bodyPr/>
          <a:lstStyle/>
          <a:p>
            <a:r>
              <a:rPr lang="en-US" dirty="0"/>
              <a:t>Cheat Sheet</a:t>
            </a:r>
          </a:p>
        </p:txBody>
      </p:sp>
      <p:sp>
        <p:nvSpPr>
          <p:cNvPr id="3" name="Content Placeholder 2">
            <a:extLst>
              <a:ext uri="{FF2B5EF4-FFF2-40B4-BE49-F238E27FC236}">
                <a16:creationId xmlns:a16="http://schemas.microsoft.com/office/drawing/2014/main" id="{1C8E479D-BC15-F9B5-A3E2-05200E25A322}"/>
              </a:ext>
            </a:extLst>
          </p:cNvPr>
          <p:cNvSpPr>
            <a:spLocks noGrp="1"/>
          </p:cNvSpPr>
          <p:nvPr>
            <p:ph idx="1"/>
          </p:nvPr>
        </p:nvSpPr>
        <p:spPr/>
        <p:txBody>
          <a:bodyPr>
            <a:normAutofit/>
          </a:bodyPr>
          <a:lstStyle/>
          <a:p>
            <a:pPr marL="342900" marR="0" lvl="0" indent="-342900">
              <a:spcBef>
                <a:spcPts val="1135"/>
              </a:spcBef>
              <a:buFont typeface="Courier New" panose="02070309020205020404" pitchFamily="49" charset="0"/>
              <a:buChar char="o"/>
              <a:tabLst>
                <a:tab pos="5682615" algn="l"/>
              </a:tabLst>
            </a:pPr>
            <a:r>
              <a:rPr lang="en-US" b="0" kern="0" dirty="0">
                <a:effectLst/>
                <a:latin typeface="+mj-lt"/>
                <a:ea typeface="Cambria" panose="02040503050406030204" pitchFamily="18" charset="0"/>
                <a:cs typeface="Cambria" panose="02040503050406030204" pitchFamily="18" charset="0"/>
              </a:rPr>
              <a:t>git –version (to check the git version)</a:t>
            </a:r>
            <a:endParaRPr lang="en-US"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b="0" kern="0" dirty="0">
                <a:effectLst/>
                <a:latin typeface="+mj-lt"/>
                <a:ea typeface="Cambria" panose="02040503050406030204" pitchFamily="18" charset="0"/>
                <a:cs typeface="Cambria" panose="02040503050406030204" pitchFamily="18" charset="0"/>
              </a:rPr>
              <a:t>git config –global user.name </a:t>
            </a:r>
            <a:r>
              <a:rPr lang="en-US" b="1" kern="0" dirty="0">
                <a:effectLst/>
                <a:latin typeface="+mj-lt"/>
                <a:ea typeface="Cambria" panose="02040503050406030204" pitchFamily="18" charset="0"/>
                <a:cs typeface="Cambria" panose="02040503050406030204" pitchFamily="18" charset="0"/>
              </a:rPr>
              <a:t>Burhan</a:t>
            </a:r>
            <a:r>
              <a:rPr lang="en-US" b="0" kern="0" dirty="0">
                <a:effectLst/>
                <a:latin typeface="+mj-lt"/>
                <a:ea typeface="Cambria" panose="02040503050406030204" pitchFamily="18" charset="0"/>
                <a:cs typeface="Cambria" panose="02040503050406030204" pitchFamily="18" charset="0"/>
              </a:rPr>
              <a:t> (Configurational Settings)</a:t>
            </a:r>
            <a:endParaRPr lang="en-US"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b="0" kern="0" dirty="0">
                <a:effectLst/>
                <a:latin typeface="+mj-lt"/>
                <a:ea typeface="Cambria" panose="02040503050406030204" pitchFamily="18" charset="0"/>
                <a:cs typeface="Cambria" panose="02040503050406030204" pitchFamily="18" charset="0"/>
              </a:rPr>
              <a:t>git config –global </a:t>
            </a:r>
            <a:r>
              <a:rPr lang="en-US" b="0" kern="0" dirty="0" err="1">
                <a:effectLst/>
                <a:latin typeface="+mj-lt"/>
                <a:ea typeface="Cambria" panose="02040503050406030204" pitchFamily="18" charset="0"/>
                <a:cs typeface="Cambria" panose="02040503050406030204" pitchFamily="18" charset="0"/>
              </a:rPr>
              <a:t>user.email</a:t>
            </a:r>
            <a:r>
              <a:rPr lang="en-US" b="0" kern="0" dirty="0">
                <a:effectLst/>
                <a:latin typeface="+mj-lt"/>
                <a:ea typeface="Cambria" panose="02040503050406030204" pitchFamily="18" charset="0"/>
                <a:cs typeface="Cambria" panose="02040503050406030204" pitchFamily="18" charset="0"/>
              </a:rPr>
              <a:t> </a:t>
            </a:r>
            <a:r>
              <a:rPr lang="en-US" b="1" kern="0" dirty="0">
                <a:effectLst/>
                <a:latin typeface="+mj-lt"/>
                <a:ea typeface="Cambria" panose="02040503050406030204" pitchFamily="18" charset="0"/>
                <a:cs typeface="Cambria" panose="02040503050406030204" pitchFamily="18" charset="0"/>
              </a:rPr>
              <a:t>burhan.azam@gmail.com </a:t>
            </a:r>
            <a:r>
              <a:rPr lang="en-US" b="0" kern="0" dirty="0">
                <a:effectLst/>
                <a:latin typeface="+mj-lt"/>
                <a:ea typeface="Cambria" panose="02040503050406030204" pitchFamily="18" charset="0"/>
                <a:cs typeface="Cambria" panose="02040503050406030204" pitchFamily="18" charset="0"/>
              </a:rPr>
              <a:t>(Configurational Settings)</a:t>
            </a:r>
            <a:endParaRPr lang="en-US"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b="0" kern="0" dirty="0">
                <a:effectLst/>
                <a:latin typeface="+mj-lt"/>
                <a:ea typeface="Cambria" panose="02040503050406030204" pitchFamily="18" charset="0"/>
                <a:cs typeface="Cambria" panose="02040503050406030204" pitchFamily="18" charset="0"/>
              </a:rPr>
              <a:t>git config –list (To check all the configuration)</a:t>
            </a:r>
            <a:endParaRPr lang="en-US"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b="0" kern="0" dirty="0">
                <a:effectLst/>
                <a:latin typeface="+mj-lt"/>
                <a:ea typeface="Cambria" panose="02040503050406030204" pitchFamily="18" charset="0"/>
                <a:cs typeface="Cambria" panose="02040503050406030204" pitchFamily="18" charset="0"/>
              </a:rPr>
              <a:t>git clone” </a:t>
            </a:r>
            <a:r>
              <a:rPr lang="en-US" b="1" kern="0" dirty="0">
                <a:effectLst/>
                <a:latin typeface="+mj-lt"/>
                <a:ea typeface="Cambria" panose="02040503050406030204" pitchFamily="18" charset="0"/>
                <a:cs typeface="Cambria" panose="02040503050406030204" pitchFamily="18" charset="0"/>
              </a:rPr>
              <a:t>Repo name”</a:t>
            </a:r>
          </a:p>
          <a:p>
            <a:pPr marL="342900" marR="0" lvl="0" indent="-342900">
              <a:spcBef>
                <a:spcPts val="1135"/>
              </a:spcBef>
              <a:buFont typeface="Courier New" panose="02070309020205020404" pitchFamily="49" charset="0"/>
              <a:buChar char="o"/>
              <a:tabLst>
                <a:tab pos="5682615" algn="l"/>
              </a:tabLst>
            </a:pPr>
            <a:r>
              <a:rPr lang="en-US" b="0" kern="0" dirty="0">
                <a:effectLst/>
                <a:latin typeface="+mj-lt"/>
                <a:ea typeface="Cambria" panose="02040503050406030204" pitchFamily="18" charset="0"/>
                <a:cs typeface="Cambria" panose="02040503050406030204" pitchFamily="18" charset="0"/>
              </a:rPr>
              <a:t>git status (tells us about the status of the Repository)</a:t>
            </a:r>
            <a:endParaRPr lang="en-US" b="1" kern="0" dirty="0">
              <a:effectLst/>
              <a:latin typeface="+mj-lt"/>
              <a:ea typeface="Cambria" panose="02040503050406030204" pitchFamily="18" charset="0"/>
              <a:cs typeface="Cambria" panose="02040503050406030204" pitchFamily="18" charset="0"/>
            </a:endParaRPr>
          </a:p>
        </p:txBody>
      </p:sp>
    </p:spTree>
    <p:extLst>
      <p:ext uri="{BB962C8B-B14F-4D97-AF65-F5344CB8AC3E}">
        <p14:creationId xmlns:p14="http://schemas.microsoft.com/office/powerpoint/2010/main" val="1795712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5ACB1-8E72-0409-743A-0C76509AF350}"/>
              </a:ext>
            </a:extLst>
          </p:cNvPr>
          <p:cNvSpPr>
            <a:spLocks noGrp="1"/>
          </p:cNvSpPr>
          <p:nvPr>
            <p:ph type="title"/>
          </p:nvPr>
        </p:nvSpPr>
        <p:spPr/>
        <p:txBody>
          <a:bodyPr/>
          <a:lstStyle/>
          <a:p>
            <a:r>
              <a:rPr lang="en-US" dirty="0"/>
              <a:t>Cheat Sheet</a:t>
            </a:r>
          </a:p>
        </p:txBody>
      </p:sp>
      <p:sp>
        <p:nvSpPr>
          <p:cNvPr id="3" name="Content Placeholder 2">
            <a:extLst>
              <a:ext uri="{FF2B5EF4-FFF2-40B4-BE49-F238E27FC236}">
                <a16:creationId xmlns:a16="http://schemas.microsoft.com/office/drawing/2014/main" id="{D9C0F043-B92B-432D-B519-7BA1E0428CFD}"/>
              </a:ext>
            </a:extLst>
          </p:cNvPr>
          <p:cNvSpPr>
            <a:spLocks noGrp="1"/>
          </p:cNvSpPr>
          <p:nvPr>
            <p:ph idx="1"/>
          </p:nvPr>
        </p:nvSpPr>
        <p:spPr/>
        <p:txBody>
          <a:bodyPr/>
          <a:lstStyle/>
          <a:p>
            <a:pPr marL="342900" marR="0" lvl="0" indent="-342900">
              <a:spcBef>
                <a:spcPts val="1135"/>
              </a:spcBef>
              <a:buFont typeface="Courier New" panose="02070309020205020404" pitchFamily="49" charset="0"/>
              <a:buChar char="o"/>
              <a:tabLst>
                <a:tab pos="5682615" algn="l"/>
              </a:tabLst>
            </a:pPr>
            <a:r>
              <a:rPr lang="en-US" sz="2000" b="0" kern="0" dirty="0">
                <a:effectLst/>
                <a:latin typeface="+mj-lt"/>
                <a:ea typeface="Cambria" panose="02040503050406030204" pitchFamily="18" charset="0"/>
                <a:cs typeface="Cambria" panose="02040503050406030204" pitchFamily="18" charset="0"/>
              </a:rPr>
              <a:t>git add</a:t>
            </a:r>
            <a:r>
              <a:rPr lang="en-US" sz="2000" b="1" kern="0" dirty="0">
                <a:effectLst/>
                <a:latin typeface="+mj-lt"/>
                <a:ea typeface="Cambria" panose="02040503050406030204" pitchFamily="18" charset="0"/>
                <a:cs typeface="Cambria" panose="02040503050406030204" pitchFamily="18" charset="0"/>
              </a:rPr>
              <a:t> File_name.txt</a:t>
            </a:r>
          </a:p>
          <a:p>
            <a:pPr marL="342900" marR="0" lvl="0" indent="-342900">
              <a:spcBef>
                <a:spcPts val="1135"/>
              </a:spcBef>
              <a:buFont typeface="Courier New" panose="02070309020205020404" pitchFamily="49" charset="0"/>
              <a:buChar char="o"/>
              <a:tabLst>
                <a:tab pos="5682615" algn="l"/>
              </a:tabLst>
            </a:pPr>
            <a:r>
              <a:rPr lang="en-US" sz="2000" b="0" kern="0" dirty="0">
                <a:effectLst/>
                <a:latin typeface="+mj-lt"/>
                <a:ea typeface="Calibri" panose="020F0502020204030204" pitchFamily="34" charset="0"/>
                <a:cs typeface="Cambria" panose="02040503050406030204" pitchFamily="18" charset="0"/>
              </a:rPr>
              <a:t>git commit -m </a:t>
            </a:r>
            <a:r>
              <a:rPr lang="en-US" sz="2000" b="1" kern="0" dirty="0">
                <a:effectLst/>
                <a:latin typeface="+mj-lt"/>
                <a:ea typeface="Calibri" panose="020F0502020204030204" pitchFamily="34" charset="0"/>
                <a:cs typeface="Cambria" panose="02040503050406030204" pitchFamily="18" charset="0"/>
              </a:rPr>
              <a:t>"First commit using bash"</a:t>
            </a:r>
            <a:endParaRPr lang="en-US" sz="2000"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sz="2000" b="0" kern="0" dirty="0">
                <a:effectLst/>
                <a:latin typeface="+mj-lt"/>
                <a:ea typeface="Cambria" panose="02040503050406030204" pitchFamily="18" charset="0"/>
                <a:cs typeface="Cambria" panose="02040503050406030204" pitchFamily="18" charset="0"/>
              </a:rPr>
              <a:t>git </a:t>
            </a:r>
            <a:r>
              <a:rPr lang="en-US" sz="2000" b="0" kern="0" dirty="0" err="1">
                <a:effectLst/>
                <a:latin typeface="+mj-lt"/>
                <a:ea typeface="Cambria" panose="02040503050406030204" pitchFamily="18" charset="0"/>
                <a:cs typeface="Cambria" panose="02040503050406030204" pitchFamily="18" charset="0"/>
              </a:rPr>
              <a:t>init</a:t>
            </a:r>
            <a:r>
              <a:rPr lang="en-US" sz="2000" b="0" kern="0" dirty="0">
                <a:effectLst/>
                <a:latin typeface="+mj-lt"/>
                <a:ea typeface="Cambria" panose="02040503050406030204" pitchFamily="18" charset="0"/>
                <a:cs typeface="Cambria" panose="02040503050406030204" pitchFamily="18" charset="0"/>
              </a:rPr>
              <a:t> (For the initialization)</a:t>
            </a:r>
            <a:endParaRPr lang="en-US" sz="2000"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sz="2000" b="0" kern="0" dirty="0">
                <a:effectLst/>
                <a:latin typeface="+mj-lt"/>
                <a:ea typeface="Calibri" panose="020F0502020204030204" pitchFamily="34" charset="0"/>
                <a:cs typeface="Cambria" panose="02040503050406030204" pitchFamily="18" charset="0"/>
              </a:rPr>
              <a:t>git remote add origin </a:t>
            </a:r>
            <a:r>
              <a:rPr lang="en-US" sz="2000" b="0" u="sng" kern="0" dirty="0">
                <a:solidFill>
                  <a:srgbClr val="0000FF"/>
                </a:solidFill>
                <a:effectLst/>
                <a:latin typeface="+mj-lt"/>
                <a:ea typeface="Calibri" panose="020F0502020204030204" pitchFamily="34" charset="0"/>
                <a:cs typeface="Cambria" panose="02040503050406030204" pitchFamily="18" charset="0"/>
                <a:hlinkClick r:id="rId2"/>
              </a:rPr>
              <a:t>https://github.com/burhanazam123/TestRepo.git</a:t>
            </a:r>
            <a:endParaRPr lang="en-US" sz="2000"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sz="2000" b="0" kern="0" dirty="0">
                <a:effectLst/>
                <a:latin typeface="+mj-lt"/>
                <a:ea typeface="Calibri" panose="020F0502020204030204" pitchFamily="34" charset="0"/>
                <a:cs typeface="Cambria" panose="02040503050406030204" pitchFamily="18" charset="0"/>
              </a:rPr>
              <a:t>git branch (To check in which branch we are)</a:t>
            </a:r>
            <a:endParaRPr lang="en-US" sz="2000"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sz="2000" b="0" kern="0" dirty="0">
                <a:effectLst/>
                <a:latin typeface="+mj-lt"/>
                <a:ea typeface="Cambria" panose="02040503050406030204" pitchFamily="18" charset="0"/>
                <a:cs typeface="Cambria" panose="02040503050406030204" pitchFamily="18" charset="0"/>
              </a:rPr>
              <a:t>git branch -M main (To rename)</a:t>
            </a:r>
            <a:endParaRPr lang="en-US" sz="2000"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sz="2000" b="0" kern="0" dirty="0">
                <a:effectLst/>
                <a:latin typeface="+mj-lt"/>
                <a:ea typeface="Calibri" panose="020F0502020204030204" pitchFamily="34" charset="0"/>
                <a:cs typeface="Cambria" panose="02040503050406030204" pitchFamily="18" charset="0"/>
              </a:rPr>
              <a:t>git push origin main</a:t>
            </a:r>
            <a:endParaRPr lang="en-US" sz="2000"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sz="2000" b="0" kern="0" dirty="0">
                <a:effectLst/>
                <a:latin typeface="+mj-lt"/>
                <a:ea typeface="Calibri" panose="020F0502020204030204" pitchFamily="34" charset="0"/>
                <a:cs typeface="Cambria" panose="02040503050406030204" pitchFamily="18" charset="0"/>
              </a:rPr>
              <a:t>git checkout –b </a:t>
            </a:r>
            <a:r>
              <a:rPr lang="en-US" sz="2000" b="1" kern="0" dirty="0">
                <a:effectLst/>
                <a:latin typeface="+mj-lt"/>
                <a:ea typeface="Calibri" panose="020F0502020204030204" pitchFamily="34" charset="0"/>
                <a:cs typeface="Cambria" panose="02040503050406030204" pitchFamily="18" charset="0"/>
              </a:rPr>
              <a:t>Branch name</a:t>
            </a:r>
            <a:endParaRPr lang="en-US" sz="2000" b="1" kern="0" dirty="0">
              <a:effectLst/>
              <a:latin typeface="+mj-lt"/>
              <a:ea typeface="Cambria" panose="02040503050406030204" pitchFamily="18" charset="0"/>
              <a:cs typeface="Cambria" panose="02040503050406030204" pitchFamily="18" charset="0"/>
            </a:endParaRPr>
          </a:p>
          <a:p>
            <a:pPr marL="342900" marR="0" lvl="0" indent="-342900">
              <a:spcBef>
                <a:spcPts val="1135"/>
              </a:spcBef>
              <a:buFont typeface="Courier New" panose="02070309020205020404" pitchFamily="49" charset="0"/>
              <a:buChar char="o"/>
              <a:tabLst>
                <a:tab pos="5682615" algn="l"/>
              </a:tabLst>
            </a:pPr>
            <a:r>
              <a:rPr lang="en-US" sz="2000" b="0" kern="0" dirty="0">
                <a:effectLst/>
                <a:latin typeface="+mj-lt"/>
                <a:ea typeface="Calibri" panose="020F0502020204030204" pitchFamily="34" charset="0"/>
                <a:cs typeface="Cambria" panose="02040503050406030204" pitchFamily="18" charset="0"/>
              </a:rPr>
              <a:t>git pull origin main</a:t>
            </a:r>
            <a:endParaRPr lang="en-US" sz="2000" b="1" kern="0" dirty="0">
              <a:effectLst/>
              <a:latin typeface="+mj-lt"/>
              <a:ea typeface="Cambria" panose="02040503050406030204" pitchFamily="18" charset="0"/>
              <a:cs typeface="Cambria" panose="02040503050406030204" pitchFamily="18" charset="0"/>
            </a:endParaRPr>
          </a:p>
          <a:p>
            <a:endParaRPr lang="en-US" dirty="0">
              <a:latin typeface="+mj-lt"/>
            </a:endParaRPr>
          </a:p>
          <a:p>
            <a:endParaRPr lang="en-US" dirty="0">
              <a:latin typeface="+mj-lt"/>
            </a:endParaRPr>
          </a:p>
        </p:txBody>
      </p:sp>
    </p:spTree>
    <p:extLst>
      <p:ext uri="{BB962C8B-B14F-4D97-AF65-F5344CB8AC3E}">
        <p14:creationId xmlns:p14="http://schemas.microsoft.com/office/powerpoint/2010/main" val="271469819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1579</TotalTime>
  <Words>2105</Words>
  <Application>Microsoft Office PowerPoint</Application>
  <PresentationFormat>Widescreen</PresentationFormat>
  <Paragraphs>134</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Calibri</vt:lpstr>
      <vt:lpstr>Calibri Light</vt:lpstr>
      <vt:lpstr>Courier New</vt:lpstr>
      <vt:lpstr>Inter</vt:lpstr>
      <vt:lpstr>Times New Roman</vt:lpstr>
      <vt:lpstr>Wingdings</vt:lpstr>
      <vt:lpstr>Retrospect</vt:lpstr>
      <vt:lpstr>Basic Understanding Of Version Control System</vt:lpstr>
      <vt:lpstr>Version Control System</vt:lpstr>
      <vt:lpstr>Types of Versions Controls</vt:lpstr>
      <vt:lpstr>Local Version Controls</vt:lpstr>
      <vt:lpstr>Local Version Controls</vt:lpstr>
      <vt:lpstr>Centralized VCS </vt:lpstr>
      <vt:lpstr>Centralized VCS </vt:lpstr>
      <vt:lpstr>Limitation of Centralized VCS </vt:lpstr>
      <vt:lpstr>Centralized VCS </vt:lpstr>
      <vt:lpstr>Centralized Version Controls </vt:lpstr>
      <vt:lpstr>Centralized Version Controls </vt:lpstr>
      <vt:lpstr>Centralized Version Controls </vt:lpstr>
      <vt:lpstr>Centralized Version Controls </vt:lpstr>
      <vt:lpstr>Centralized Version Controls </vt:lpstr>
      <vt:lpstr>Distributed Version Control Systems</vt:lpstr>
      <vt:lpstr>Distributed Version Control Systems</vt:lpstr>
      <vt:lpstr>Distributed Version Control Systems</vt:lpstr>
      <vt:lpstr>Difference </vt:lpstr>
      <vt:lpstr>GitHub</vt:lpstr>
      <vt:lpstr>GitHub</vt:lpstr>
      <vt:lpstr>GitHub is a Cloud-Based Platform</vt:lpstr>
      <vt:lpstr>Repository</vt:lpstr>
      <vt:lpstr>Repository</vt:lpstr>
      <vt:lpstr>Create a repository on GitHub</vt:lpstr>
      <vt:lpstr>Provide details of repository on your account</vt:lpstr>
      <vt:lpstr>url of repository on your account</vt:lpstr>
      <vt:lpstr>Creating a new file in GitHub Repo </vt:lpstr>
      <vt:lpstr>Creating a new file in GitHub Repo </vt:lpstr>
      <vt:lpstr>Uploading a new file in GitHub Repo </vt:lpstr>
      <vt:lpstr>Uploading a new file in GitHub Repo </vt:lpstr>
      <vt:lpstr>Git Clone</vt:lpstr>
      <vt:lpstr>Git add</vt:lpstr>
      <vt:lpstr>git commit</vt:lpstr>
      <vt:lpstr>git push</vt:lpstr>
      <vt:lpstr>Git WorkFlow</vt:lpstr>
      <vt:lpstr>Branching</vt:lpstr>
      <vt:lpstr>Branching</vt:lpstr>
      <vt:lpstr>Branching and Merging</vt:lpstr>
      <vt:lpstr>Cheat Sheet</vt:lpstr>
      <vt:lpstr>Cheat Sheet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dc:title>
  <dc:creator>Burhan</dc:creator>
  <cp:lastModifiedBy>Burhan</cp:lastModifiedBy>
  <cp:revision>30</cp:revision>
  <dcterms:created xsi:type="dcterms:W3CDTF">2025-02-02T22:38:50Z</dcterms:created>
  <dcterms:modified xsi:type="dcterms:W3CDTF">2025-08-01T09:53:32Z</dcterms:modified>
</cp:coreProperties>
</file>